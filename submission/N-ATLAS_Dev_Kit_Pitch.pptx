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33bf2f-fb1d-440e-b864-a5adc447cdd5}">
          <p14:sldIdLst>
            <p14:sldId id="256"/>
          </p14:sldIdLst>
        </p14:section>
        <p14:section name="Problem and solution" id="{7e839103-e8ad-e80a-1345-dc6594c04622}">
          <p14:sldIdLst>
            <p14:sldId id="257"/>
            <p14:sldId id="258"/>
          </p14:sldIdLst>
        </p14:section>
        <p14:section name="How it works" id="{27598294-01ff-8169-4960-eed0632f004e}">
          <p14:sldIdLst>
            <p14:sldId id="259"/>
            <p14:sldId id="260"/>
            <p14:sldId id="261"/>
          </p14:sldIdLst>
        </p14:section>
        <p14:section name="Evidence" id="{28b97c20-34ab-09af-3df2-0016172bff54}">
          <p14:sldIdLst>
            <p14:sldId id="262"/>
            <p14:sldId id="263"/>
            <p14:sldId id="264"/>
          </p14:sldIdLst>
        </p14:section>
        <p14:section name="Impact and growth" id="{9e504dbe-2438-3e43-4d40-324b314db51e}">
          <p14:sldIdLst>
            <p14:sldId id="265"/>
            <p14:sldId id="266"/>
            <p14:sldId id="267"/>
          </p14:sldIdLst>
        </p14:section>
        <p14:section name="Closing" id="{7de16a43-2255-5e28-2edd-3ce43d6c239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N-ATLAS Dev Kit is developer infrastructure for Nigeria's own AI model. It answers Problem Statement 01: build the tools that make N-ATLAS easy to build with. Built by Peachel Innovations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N-ATLAS is open source, but there is no hosted endpoint, no SDK and no starter app. A developer must download up to 16 GB of weights, write Python inference code, handle the chat template, and host and secure their own API. Most Nigerian developers work on laptops and build in JavaScript or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has five parts. The server speaks the OpenAI API, so existing apps switch by changing one URL. The TypeScript SDK is published on npm as @akindats/natlas. The .NET SDK reaches C# and desktop engineering software. The Next.js starter is a complete chat app. The playground lets anyone try it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client, from the playground to existing OpenAI code, calls the same server. The server checks the API key, then hands generation to the configured backend. The live demo runs llama.cpp with the quantised N-ATLaS model on a laptop GPU. The transformers backend loads NCAIR's official weights on a GPU such as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an existing Python app that uses the OpenAI SDK. The only change is the base URL; it now talks to N-ATLAS. On the right, the TypeScript SDK: one line to ask, with the reply forced into Hausa, one line to translate into Igbo, and streaming.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is served by the server itself, so the same link is both the API and the demo. Here N-ATLAS answers a Hausa farming question, streamed word by word, with the first word after 0.9 seconds. The panel on the right shows the exact code to make the same request from your own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N-ATLAS is the only model the kit uses. The live demo loads a 4.9 GB quantisation of NCAIR1/N-ATLaS whose checksum we verified. The transformers backend loads the official weights and follows NCAIR's model card exactly. Language features are limited to the four languages N-ATLAS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was verified on the real model, not the mock. Seven server tests and six SDK tests pass, the SDK installs cleanly from npm, and the playground streams the first word in under a second. On battery, the laptop GPU runs about 6 tokens per second; a larger GPU is faster. We pass the model's known limits on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01 requires at least two external beta testers. Each tester followed the guide: playground, a first request in a Nigerian language, the SDK in their own script, and the starter app. Replace this note and the table with the real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speed and reach. The kit cuts the time to a first N-ATLAS app from days of ML setup to minutes, and opens the model to the JavaScript and .NET developers who build most Nigerian products. Every app built on it adds users and real-world feedback for N-ATLAS.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stateless, so it scales by adding instances. It is MIT-licensed and the SDK is on npm, so the community can extend it. Peachel Innovations Limited sustains it through paid integration and deployment support. Next on the roadmap: speech endpoints, more SDKs, a hosted endpoint and framework adapters.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use is built in. Attribution appears in every response header, both SDKs and every footer. The usage log stores no message text. The README passes the N-ATLaS permitted and prohibited uses on to every developer who builds with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Replace the placeholder card with the second team member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playground, the source code and the npm package are all live today. N-ATLaS is an initiative of the Federal Ministry of Communications, Innovation and Digital Economy, and powered by Awarri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94944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429000"/>
            <a:ext cx="6766560" cy="914400"/>
          </a:xfrm>
          <a:prstGeom prst="rect">
            <a:avLst/>
          </a:prstGeom>
          <a:noFill/>
          <a:ln/>
        </p:spPr>
        <p:txBody>
          <a:bodyPr wrap="square" rtlCol="0"/>
          <a:lstStyle>
            <a:lvl1pPr indent="0" marL="0">
              <a:buNone/>
              <a:defRPr lang="en-US" sz="2400" dirty="0">
                <a:solidFill>
                  <a:schemeClr val="bg2"/>
                </a:solidFill>
                <a:latin typeface="Calibri" pitchFamily="34" charset="0"/>
                <a:ea typeface="Calibri" pitchFamily="34" charset="-122"/>
                <a:cs typeface="Calibri"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N-ATLAS Dev Kit · NAIC 2026 · Peachel Innovations Limited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dire-1"/>
          <p:cNvSpPr/>
          <p:nvPr/>
        </p:nvSpPr>
        <p:spPr>
          <a:xfrm>
            <a:off x="7132320" y="1051560"/>
            <a:ext cx="4754880" cy="4754880"/>
          </a:xfrm>
          <a:prstGeom prst="ellipse">
            <a:avLst/>
          </a:prstGeom>
          <a:ln w="19050">
            <a:solidFill>
              <a:schemeClr val="bg2">
                <a:alpha val="45000"/>
              </a:schemeClr>
            </a:solidFill>
            <a:prstDash val="solid"/>
          </a:ln>
        </p:spPr>
      </p:sp>
      <p:sp>
        <p:nvSpPr>
          <p:cNvPr id="3" name="adire-2"/>
          <p:cNvSpPr/>
          <p:nvPr/>
        </p:nvSpPr>
        <p:spPr>
          <a:xfrm>
            <a:off x="7893101" y="1812341"/>
            <a:ext cx="3233318" cy="3233318"/>
          </a:xfrm>
          <a:prstGeom prst="ellipse">
            <a:avLst/>
          </a:prstGeom>
          <a:ln w="19050">
            <a:solidFill>
              <a:schemeClr val="bg2">
                <a:alpha val="35000"/>
              </a:schemeClr>
            </a:solidFill>
            <a:prstDash val="solid"/>
          </a:ln>
        </p:spPr>
      </p:sp>
      <p:sp>
        <p:nvSpPr>
          <p:cNvPr id="4" name="adire-3"/>
          <p:cNvSpPr/>
          <p:nvPr/>
        </p:nvSpPr>
        <p:spPr>
          <a:xfrm>
            <a:off x="8653882" y="2573122"/>
            <a:ext cx="1711757" cy="1711757"/>
          </a:xfrm>
          <a:prstGeom prst="ellipse">
            <a:avLst/>
          </a:prstGeom>
          <a:ln w="19050">
            <a:solidFill>
              <a:schemeClr val="bg2">
                <a:alpha val="25000"/>
              </a:schemeClr>
            </a:solidFill>
            <a:prstDash val="solid"/>
          </a:ln>
        </p:spPr>
      </p:sp>
      <p:sp>
        <p:nvSpPr>
          <p:cNvPr id="5" name="adire-dot-4"/>
          <p:cNvSpPr/>
          <p:nvPr/>
        </p:nvSpPr>
        <p:spPr>
          <a:xfrm>
            <a:off x="9272016" y="3191256"/>
            <a:ext cx="475488" cy="475488"/>
          </a:xfrm>
          <a:prstGeom prst="ellipse">
            <a:avLst/>
          </a:prstGeom>
          <a:solidFill>
            <a:schemeClr val="accent2"/>
          </a:solidFill>
          <a:ln/>
        </p:spPr>
      </p:sp>
      <p:sp>
        <p:nvSpPr>
          <p:cNvPr id="6" name="text-5"/>
          <p:cNvSpPr txBox="1"/>
          <p:nvPr/>
        </p:nvSpPr>
        <p:spPr>
          <a:xfrm>
            <a:off x="548640" y="1600200"/>
            <a:ext cx="8229600" cy="365760"/>
          </a:xfrm>
          <a:prstGeom prst="rect">
            <a:avLst/>
          </a:prstGeom>
          <a:noFill/>
          <a:ln/>
        </p:spPr>
        <p:txBody>
          <a:bodyPr wrap="square" lIns="0" tIns="0" rIns="0" bIns="0" rtlCol="0" anchor="t"/>
          <a:lstStyle/>
          <a:p>
            <a:pPr indent="0" marL="0">
              <a:buNone/>
            </a:pPr>
            <a:r>
              <a:rPr lang="en-US" sz="1400" b="1" spc="200" kern="0" dirty="0">
                <a:solidFill>
                  <a:schemeClr val="accent2"/>
                </a:solidFill>
                <a:latin typeface="Calibri" pitchFamily="34" charset="0"/>
                <a:ea typeface="Calibri" pitchFamily="34" charset="-122"/>
                <a:cs typeface="Calibri" pitchFamily="34" charset="-120"/>
              </a:rPr>
              <a:t>NAIC 2026  ·  INNOVATION &amp; ENTERPRISE  ·  PROBLEM STATEMENT 01</a:t>
            </a:r>
            <a:endParaRPr lang="en-US" sz="1400" dirty="0"/>
          </a:p>
        </p:txBody>
      </p:sp>
      <p:sp>
        <p:nvSpPr>
          <p:cNvPr id="7" name="Text 0"/>
          <p:cNvSpPr/>
          <p:nvPr>
            <p:ph idx="100" type="title" hasCustomPrompt="1"/>
          </p:nvPr>
        </p:nvSpPr>
        <p:spPr>
          <a:xfrm>
            <a:off x="548640" y="214884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N-ATLAS Dev Kit</a:t>
            </a:r>
            <a:endParaRPr lang="en-US" sz="5400" dirty="0"/>
          </a:p>
        </p:txBody>
      </p:sp>
      <p:sp>
        <p:nvSpPr>
          <p:cNvPr id="8" name="Text 0"/>
          <p:cNvSpPr/>
          <p:nvPr>
            <p:ph idx="101" type="body" hasCustomPrompt="1"/>
          </p:nvPr>
        </p:nvSpPr>
        <p:spPr>
          <a:xfrm>
            <a:off x="548640" y="3429000"/>
            <a:ext cx="6766560" cy="914400"/>
          </a:xfrm>
          <a:prstGeom prst="rect">
            <a:avLst/>
          </a:prstGeom>
          <a:noFill/>
          <a:ln/>
        </p:spPr>
        <p:txBody>
          <a:bodyPr wrap="square" lIns="0" tIns="0" rIns="0" bIns="0" rtlCol="0" anchor="t"/>
          <a:lstStyle/>
          <a:p>
            <a:pPr indent="0" marL="0">
              <a:buNone/>
            </a:pPr>
            <a:r>
              <a:rPr lang="en-US" sz="2400" dirty="0">
                <a:solidFill>
                  <a:schemeClr val="bg2"/>
                </a:solidFill>
                <a:latin typeface="Calibri" pitchFamily="34" charset="0"/>
                <a:ea typeface="Calibri" pitchFamily="34" charset="-122"/>
                <a:cs typeface="Calibri" pitchFamily="34" charset="-120"/>
              </a:rPr>
              <a:t>Add Nigeria's own AI to any app in minutes</a:t>
            </a:r>
            <a:endParaRPr lang="en-US" sz="2400" dirty="0"/>
          </a:p>
        </p:txBody>
      </p:sp>
      <p:sp>
        <p:nvSpPr>
          <p:cNvPr id="9" name="text-6"/>
          <p:cNvSpPr txBox="1"/>
          <p:nvPr/>
        </p:nvSpPr>
        <p:spPr>
          <a:xfrm>
            <a:off x="548640" y="5715000"/>
            <a:ext cx="54864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Peachel Innovations Limited</a:t>
            </a:r>
            <a:endParaRPr lang="en-US" sz="1800" dirty="0"/>
          </a:p>
        </p:txBody>
      </p:sp>
      <p:sp>
        <p:nvSpPr>
          <p:cNvPr id="10" name="text-7"/>
          <p:cNvSpPr txBox="1"/>
          <p:nvPr/>
        </p:nvSpPr>
        <p:spPr>
          <a:xfrm>
            <a:off x="548640" y="6080760"/>
            <a:ext cx="548640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github.com/Akindats1/natlas-devkit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N-ATLAS is open, but hard to build with</a:t>
            </a:r>
            <a:endParaRPr lang="en-US" sz="3200" dirty="0"/>
          </a:p>
        </p:txBody>
      </p:sp>
      <p:sp>
        <p:nvSpPr>
          <p:cNvPr id="3" name="card-8"/>
          <p:cNvSpPr/>
          <p:nvPr/>
        </p:nvSpPr>
        <p:spPr>
          <a:xfrm>
            <a:off x="548640" y="1508760"/>
            <a:ext cx="3484778" cy="3246120"/>
          </a:xfrm>
          <a:prstGeom prst="roundRect">
            <a:avLst>
              <a:gd name="adj" fmla="val 3380"/>
            </a:avLst>
          </a:prstGeom>
          <a:solidFill>
            <a:schemeClr val="bg2"/>
          </a:solidFill>
          <a:ln/>
        </p:spPr>
      </p:sp>
      <p:sp>
        <p:nvSpPr>
          <p:cNvPr id="4" name="text-9"/>
          <p:cNvSpPr txBox="1"/>
          <p:nvPr/>
        </p:nvSpPr>
        <p:spPr>
          <a:xfrm>
            <a:off x="868680" y="1783080"/>
            <a:ext cx="2844698"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16 GB</a:t>
            </a:r>
            <a:endParaRPr lang="en-US" sz="5400" dirty="0"/>
          </a:p>
        </p:txBody>
      </p:sp>
      <p:sp>
        <p:nvSpPr>
          <p:cNvPr id="5" name="text-10"/>
          <p:cNvSpPr txBox="1"/>
          <p:nvPr/>
        </p:nvSpPr>
        <p:spPr>
          <a:xfrm>
            <a:off x="868680" y="288036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of weights to download</a:t>
            </a:r>
            <a:endParaRPr lang="en-US" sz="1800" dirty="0"/>
          </a:p>
        </p:txBody>
      </p:sp>
      <p:sp>
        <p:nvSpPr>
          <p:cNvPr id="6" name="text-11"/>
          <p:cNvSpPr txBox="1"/>
          <p:nvPr/>
        </p:nvSpPr>
        <p:spPr>
          <a:xfrm>
            <a:off x="868680" y="3611880"/>
            <a:ext cx="2844698" cy="91440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before a developer can send a single prompt</a:t>
            </a:r>
            <a:endParaRPr lang="en-US" sz="1500" dirty="0"/>
          </a:p>
        </p:txBody>
      </p:sp>
      <p:sp>
        <p:nvSpPr>
          <p:cNvPr id="7" name="card-12"/>
          <p:cNvSpPr/>
          <p:nvPr/>
        </p:nvSpPr>
        <p:spPr>
          <a:xfrm>
            <a:off x="4353458" y="1508760"/>
            <a:ext cx="3484778" cy="3246120"/>
          </a:xfrm>
          <a:prstGeom prst="roundRect">
            <a:avLst>
              <a:gd name="adj" fmla="val 3380"/>
            </a:avLst>
          </a:prstGeom>
          <a:solidFill>
            <a:schemeClr val="bg2"/>
          </a:solidFill>
          <a:ln/>
        </p:spPr>
      </p:sp>
      <p:sp>
        <p:nvSpPr>
          <p:cNvPr id="8" name="text-13"/>
          <p:cNvSpPr txBox="1"/>
          <p:nvPr/>
        </p:nvSpPr>
        <p:spPr>
          <a:xfrm>
            <a:off x="4673498" y="1783080"/>
            <a:ext cx="2844698"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0</a:t>
            </a:r>
            <a:endParaRPr lang="en-US" sz="5400" dirty="0"/>
          </a:p>
        </p:txBody>
      </p:sp>
      <p:sp>
        <p:nvSpPr>
          <p:cNvPr id="9" name="text-14"/>
          <p:cNvSpPr txBox="1"/>
          <p:nvPr/>
        </p:nvSpPr>
        <p:spPr>
          <a:xfrm>
            <a:off x="4673498" y="288036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hosted endpoints, SDKs or starter apps</a:t>
            </a:r>
            <a:endParaRPr lang="en-US" sz="1800" dirty="0"/>
          </a:p>
        </p:txBody>
      </p:sp>
      <p:sp>
        <p:nvSpPr>
          <p:cNvPr id="10" name="text-15"/>
          <p:cNvSpPr txBox="1"/>
          <p:nvPr/>
        </p:nvSpPr>
        <p:spPr>
          <a:xfrm>
            <a:off x="4673498" y="3611880"/>
            <a:ext cx="2844698" cy="91440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so every team rebuilds the same plumbing</a:t>
            </a:r>
            <a:endParaRPr lang="en-US" sz="1500" dirty="0"/>
          </a:p>
        </p:txBody>
      </p:sp>
      <p:sp>
        <p:nvSpPr>
          <p:cNvPr id="11" name="card-16"/>
          <p:cNvSpPr/>
          <p:nvPr/>
        </p:nvSpPr>
        <p:spPr>
          <a:xfrm>
            <a:off x="8158277" y="1508760"/>
            <a:ext cx="3484778" cy="3246120"/>
          </a:xfrm>
          <a:prstGeom prst="roundRect">
            <a:avLst>
              <a:gd name="adj" fmla="val 3380"/>
            </a:avLst>
          </a:prstGeom>
          <a:solidFill>
            <a:schemeClr val="bg2"/>
          </a:solidFill>
          <a:ln/>
        </p:spPr>
      </p:sp>
      <p:sp>
        <p:nvSpPr>
          <p:cNvPr id="12" name="text-17"/>
          <p:cNvSpPr txBox="1"/>
          <p:nvPr/>
        </p:nvSpPr>
        <p:spPr>
          <a:xfrm>
            <a:off x="8478317" y="1783080"/>
            <a:ext cx="2844698"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Python</a:t>
            </a:r>
            <a:endParaRPr lang="en-US" sz="5400" dirty="0"/>
          </a:p>
        </p:txBody>
      </p:sp>
      <p:sp>
        <p:nvSpPr>
          <p:cNvPr id="13" name="text-18"/>
          <p:cNvSpPr txBox="1"/>
          <p:nvPr/>
        </p:nvSpPr>
        <p:spPr>
          <a:xfrm>
            <a:off x="8478317" y="288036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is the only way in today</a:t>
            </a:r>
            <a:endParaRPr lang="en-US" sz="1800" dirty="0"/>
          </a:p>
        </p:txBody>
      </p:sp>
      <p:sp>
        <p:nvSpPr>
          <p:cNvPr id="14" name="text-19"/>
          <p:cNvSpPr txBox="1"/>
          <p:nvPr/>
        </p:nvSpPr>
        <p:spPr>
          <a:xfrm>
            <a:off x="8478317" y="3611880"/>
            <a:ext cx="2844698" cy="91440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while most Nigerian developers build in JavaScript or C#, on laptops</a:t>
            </a:r>
            <a:endParaRPr lang="en-US" sz="1500" dirty="0"/>
          </a:p>
        </p:txBody>
      </p:sp>
      <p:sp>
        <p:nvSpPr>
          <p:cNvPr id="15" name="text-20"/>
          <p:cNvSpPr txBox="1"/>
          <p:nvPr/>
        </p:nvSpPr>
        <p:spPr>
          <a:xfrm>
            <a:off x="548640" y="5166360"/>
            <a:ext cx="11094415" cy="457200"/>
          </a:xfrm>
          <a:prstGeom prst="rect">
            <a:avLst/>
          </a:prstGeom>
          <a:noFill/>
          <a:ln/>
        </p:spPr>
        <p:txBody>
          <a:bodyPr wrap="square" lIns="0" tIns="0" rIns="0" bIns="0" rtlCol="0" anchor="t"/>
          <a:lstStyle/>
          <a:p>
            <a:pPr indent="0" marL="0">
              <a:buNone/>
            </a:pPr>
            <a:r>
              <a:rPr lang="en-US" sz="2000" i="1" dirty="0">
                <a:solidFill>
                  <a:schemeClr val="tx2"/>
                </a:solidFill>
                <a:latin typeface="Calibri" pitchFamily="34" charset="0"/>
                <a:ea typeface="Calibri" pitchFamily="34" charset="-122"/>
                <a:cs typeface="Calibri" pitchFamily="34" charset="-120"/>
              </a:rPr>
              <a:t>Result: N-ATLAS stays in research notebooks instead of in products.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Five parts, one goal: N-ATLAS in your app in minutes</a:t>
            </a:r>
            <a:endParaRPr lang="en-US" sz="3200" dirty="0"/>
          </a:p>
        </p:txBody>
      </p:sp>
      <p:sp>
        <p:nvSpPr>
          <p:cNvPr id="3" name="marker-21"/>
          <p:cNvSpPr/>
          <p:nvPr/>
        </p:nvSpPr>
        <p:spPr>
          <a:xfrm>
            <a:off x="548640" y="1554480"/>
            <a:ext cx="548640" cy="548640"/>
          </a:xfrm>
          <a:prstGeom prst="ellipse">
            <a:avLst/>
          </a:prstGeom>
          <a:solidFill>
            <a:schemeClr val="tx2"/>
          </a:solidFill>
          <a:ln/>
        </p:spPr>
      </p:sp>
      <p:sp>
        <p:nvSpPr>
          <p:cNvPr id="4" name="text-22"/>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 name="text-23"/>
          <p:cNvSpPr txBox="1"/>
          <p:nvPr/>
        </p:nvSpPr>
        <p:spPr>
          <a:xfrm>
            <a:off x="1325880" y="1572768"/>
            <a:ext cx="301752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OpenAI-compatible server</a:t>
            </a:r>
            <a:endParaRPr lang="en-US" sz="1900" dirty="0"/>
          </a:p>
        </p:txBody>
      </p:sp>
      <p:sp>
        <p:nvSpPr>
          <p:cNvPr id="6" name="text-24"/>
          <p:cNvSpPr txBox="1"/>
          <p:nvPr/>
        </p:nvSpPr>
        <p:spPr>
          <a:xfrm>
            <a:off x="4434840" y="1481328"/>
            <a:ext cx="585216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Runs N-ATLAS behind chat (with streaming), translate and detect-language endpoints. Laptop, Docker or Colab.</a:t>
            </a:r>
            <a:endParaRPr lang="en-US" sz="1500" dirty="0"/>
          </a:p>
        </p:txBody>
      </p:sp>
      <p:sp>
        <p:nvSpPr>
          <p:cNvPr id="7" name="status-25"/>
          <p:cNvSpPr/>
          <p:nvPr/>
        </p:nvSpPr>
        <p:spPr>
          <a:xfrm>
            <a:off x="10561320" y="1645920"/>
            <a:ext cx="1078992" cy="384048"/>
          </a:xfrm>
          <a:prstGeom prst="roundRect">
            <a:avLst>
              <a:gd name="adj" fmla="val 50000"/>
            </a:avLst>
          </a:prstGeom>
          <a:solidFill>
            <a:schemeClr val="accent3">
              <a:alpha val="15000"/>
            </a:schemeClr>
          </a:solidFill>
          <a:ln/>
        </p:spPr>
      </p:sp>
      <p:sp>
        <p:nvSpPr>
          <p:cNvPr id="8" name="text-26"/>
          <p:cNvSpPr txBox="1"/>
          <p:nvPr/>
        </p:nvSpPr>
        <p:spPr>
          <a:xfrm>
            <a:off x="10561320" y="1645920"/>
            <a:ext cx="1078992" cy="384048"/>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Live</a:t>
            </a:r>
            <a:endParaRPr lang="en-US" sz="1300" dirty="0"/>
          </a:p>
        </p:txBody>
      </p:sp>
      <p:sp>
        <p:nvSpPr>
          <p:cNvPr id="9" name="marker-27"/>
          <p:cNvSpPr/>
          <p:nvPr/>
        </p:nvSpPr>
        <p:spPr>
          <a:xfrm>
            <a:off x="548640" y="2468880"/>
            <a:ext cx="548640" cy="548640"/>
          </a:xfrm>
          <a:prstGeom prst="ellipse">
            <a:avLst/>
          </a:prstGeom>
          <a:solidFill>
            <a:schemeClr val="tx2"/>
          </a:solidFill>
          <a:ln/>
        </p:spPr>
      </p:sp>
      <p:sp>
        <p:nvSpPr>
          <p:cNvPr id="10" name="text-28"/>
          <p:cNvSpPr txBox="1"/>
          <p:nvPr/>
        </p:nvSpPr>
        <p:spPr>
          <a:xfrm>
            <a:off x="548640" y="2468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text-29"/>
          <p:cNvSpPr txBox="1"/>
          <p:nvPr/>
        </p:nvSpPr>
        <p:spPr>
          <a:xfrm>
            <a:off x="1325880" y="2487168"/>
            <a:ext cx="301752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TypeScript SDK</a:t>
            </a:r>
            <a:endParaRPr lang="en-US" sz="1900" dirty="0"/>
          </a:p>
        </p:txBody>
      </p:sp>
      <p:sp>
        <p:nvSpPr>
          <p:cNvPr id="12" name="text-30"/>
          <p:cNvSpPr txBox="1"/>
          <p:nvPr/>
        </p:nvSpPr>
        <p:spPr>
          <a:xfrm>
            <a:off x="4434840" y="2395728"/>
            <a:ext cx="585216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@akindats/natlas: ask, chat, stream, translate. Zero dependencies; Node, browsers, Next.js.</a:t>
            </a:r>
            <a:endParaRPr lang="en-US" sz="1500" dirty="0"/>
          </a:p>
        </p:txBody>
      </p:sp>
      <p:sp>
        <p:nvSpPr>
          <p:cNvPr id="13" name="status-31"/>
          <p:cNvSpPr/>
          <p:nvPr/>
        </p:nvSpPr>
        <p:spPr>
          <a:xfrm>
            <a:off x="10561320" y="2560320"/>
            <a:ext cx="1078992" cy="384048"/>
          </a:xfrm>
          <a:prstGeom prst="roundRect">
            <a:avLst>
              <a:gd name="adj" fmla="val 50000"/>
            </a:avLst>
          </a:prstGeom>
          <a:solidFill>
            <a:schemeClr val="accent3">
              <a:alpha val="15000"/>
            </a:schemeClr>
          </a:solidFill>
          <a:ln/>
        </p:spPr>
      </p:sp>
      <p:sp>
        <p:nvSpPr>
          <p:cNvPr id="14" name="text-32"/>
          <p:cNvSpPr txBox="1"/>
          <p:nvPr/>
        </p:nvSpPr>
        <p:spPr>
          <a:xfrm>
            <a:off x="10561320" y="2560320"/>
            <a:ext cx="1078992" cy="384048"/>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On npm</a:t>
            </a:r>
            <a:endParaRPr lang="en-US" sz="1300" dirty="0"/>
          </a:p>
        </p:txBody>
      </p:sp>
      <p:sp>
        <p:nvSpPr>
          <p:cNvPr id="15" name="marker-33"/>
          <p:cNvSpPr/>
          <p:nvPr/>
        </p:nvSpPr>
        <p:spPr>
          <a:xfrm>
            <a:off x="548640" y="3383280"/>
            <a:ext cx="548640" cy="548640"/>
          </a:xfrm>
          <a:prstGeom prst="ellipse">
            <a:avLst/>
          </a:prstGeom>
          <a:solidFill>
            <a:schemeClr val="tx2"/>
          </a:solidFill>
          <a:ln/>
        </p:spPr>
      </p:sp>
      <p:sp>
        <p:nvSpPr>
          <p:cNvPr id="16" name="text-34"/>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7" name="text-35"/>
          <p:cNvSpPr txBox="1"/>
          <p:nvPr/>
        </p:nvSpPr>
        <p:spPr>
          <a:xfrm>
            <a:off x="1325880" y="3401568"/>
            <a:ext cx="301752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.NET SDK</a:t>
            </a:r>
            <a:endParaRPr lang="en-US" sz="1900" dirty="0"/>
          </a:p>
        </p:txBody>
      </p:sp>
      <p:sp>
        <p:nvSpPr>
          <p:cNvPr id="18" name="text-36"/>
          <p:cNvSpPr txBox="1"/>
          <p:nvPr/>
        </p:nvSpPr>
        <p:spPr>
          <a:xfrm>
            <a:off x="4434840" y="3310128"/>
            <a:ext cx="585216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same features for C#, including .NET Framework apps such as Revit and AutoCAD plugins.</a:t>
            </a:r>
            <a:endParaRPr lang="en-US" sz="1500" dirty="0"/>
          </a:p>
        </p:txBody>
      </p:sp>
      <p:sp>
        <p:nvSpPr>
          <p:cNvPr id="19" name="status-37"/>
          <p:cNvSpPr/>
          <p:nvPr/>
        </p:nvSpPr>
        <p:spPr>
          <a:xfrm>
            <a:off x="10561320" y="3474720"/>
            <a:ext cx="1078992" cy="384048"/>
          </a:xfrm>
          <a:prstGeom prst="roundRect">
            <a:avLst>
              <a:gd name="adj" fmla="val 50000"/>
            </a:avLst>
          </a:prstGeom>
          <a:solidFill>
            <a:schemeClr val="accent3">
              <a:alpha val="15000"/>
            </a:schemeClr>
          </a:solidFill>
          <a:ln/>
        </p:spPr>
      </p:sp>
      <p:sp>
        <p:nvSpPr>
          <p:cNvPr id="20" name="text-38"/>
          <p:cNvSpPr txBox="1"/>
          <p:nvPr/>
        </p:nvSpPr>
        <p:spPr>
          <a:xfrm>
            <a:off x="10561320" y="3474720"/>
            <a:ext cx="1078992" cy="384048"/>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In repo</a:t>
            </a:r>
            <a:endParaRPr lang="en-US" sz="1300" dirty="0"/>
          </a:p>
        </p:txBody>
      </p:sp>
      <p:sp>
        <p:nvSpPr>
          <p:cNvPr id="21" name="marker-39"/>
          <p:cNvSpPr/>
          <p:nvPr/>
        </p:nvSpPr>
        <p:spPr>
          <a:xfrm>
            <a:off x="548640" y="4297680"/>
            <a:ext cx="548640" cy="548640"/>
          </a:xfrm>
          <a:prstGeom prst="ellipse">
            <a:avLst/>
          </a:prstGeom>
          <a:solidFill>
            <a:schemeClr val="tx2"/>
          </a:solidFill>
          <a:ln/>
        </p:spPr>
      </p:sp>
      <p:sp>
        <p:nvSpPr>
          <p:cNvPr id="22" name="text-40"/>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3" name="text-41"/>
          <p:cNvSpPr txBox="1"/>
          <p:nvPr/>
        </p:nvSpPr>
        <p:spPr>
          <a:xfrm>
            <a:off x="1325880" y="4315968"/>
            <a:ext cx="301752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Next.js starter app</a:t>
            </a:r>
            <a:endParaRPr lang="en-US" sz="1900" dirty="0"/>
          </a:p>
        </p:txBody>
      </p:sp>
      <p:sp>
        <p:nvSpPr>
          <p:cNvPr id="24" name="text-42"/>
          <p:cNvSpPr txBox="1"/>
          <p:nvPr/>
        </p:nvSpPr>
        <p:spPr>
          <a:xfrm>
            <a:off x="4434840" y="4224528"/>
            <a:ext cx="585216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complete multilingual chat app. Clone it, set one variable, ship.</a:t>
            </a:r>
            <a:endParaRPr lang="en-US" sz="1500" dirty="0"/>
          </a:p>
        </p:txBody>
      </p:sp>
      <p:sp>
        <p:nvSpPr>
          <p:cNvPr id="25" name="status-43"/>
          <p:cNvSpPr/>
          <p:nvPr/>
        </p:nvSpPr>
        <p:spPr>
          <a:xfrm>
            <a:off x="10561320" y="4389120"/>
            <a:ext cx="1078992" cy="384048"/>
          </a:xfrm>
          <a:prstGeom prst="roundRect">
            <a:avLst>
              <a:gd name="adj" fmla="val 50000"/>
            </a:avLst>
          </a:prstGeom>
          <a:solidFill>
            <a:schemeClr val="accent3">
              <a:alpha val="15000"/>
            </a:schemeClr>
          </a:solidFill>
          <a:ln/>
        </p:spPr>
      </p:sp>
      <p:sp>
        <p:nvSpPr>
          <p:cNvPr id="26" name="text-44"/>
          <p:cNvSpPr txBox="1"/>
          <p:nvPr/>
        </p:nvSpPr>
        <p:spPr>
          <a:xfrm>
            <a:off x="10561320" y="4389120"/>
            <a:ext cx="1078992" cy="384048"/>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Runs</a:t>
            </a:r>
            <a:endParaRPr lang="en-US" sz="1300" dirty="0"/>
          </a:p>
        </p:txBody>
      </p:sp>
      <p:sp>
        <p:nvSpPr>
          <p:cNvPr id="27" name="marker-45"/>
          <p:cNvSpPr/>
          <p:nvPr/>
        </p:nvSpPr>
        <p:spPr>
          <a:xfrm>
            <a:off x="548640" y="5212080"/>
            <a:ext cx="548640" cy="548640"/>
          </a:xfrm>
          <a:prstGeom prst="ellipse">
            <a:avLst/>
          </a:prstGeom>
          <a:solidFill>
            <a:schemeClr val="tx2"/>
          </a:solidFill>
          <a:ln/>
        </p:spPr>
      </p:sp>
      <p:sp>
        <p:nvSpPr>
          <p:cNvPr id="28" name="text-46"/>
          <p:cNvSpPr txBox="1"/>
          <p:nvPr/>
        </p:nvSpPr>
        <p:spPr>
          <a:xfrm>
            <a:off x="548640" y="5212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9" name="text-47"/>
          <p:cNvSpPr txBox="1"/>
          <p:nvPr/>
        </p:nvSpPr>
        <p:spPr>
          <a:xfrm>
            <a:off x="1325880" y="5230368"/>
            <a:ext cx="301752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Browser playground</a:t>
            </a:r>
            <a:endParaRPr lang="en-US" sz="1900" dirty="0"/>
          </a:p>
        </p:txBody>
      </p:sp>
      <p:sp>
        <p:nvSpPr>
          <p:cNvPr id="30" name="text-48"/>
          <p:cNvSpPr txBox="1"/>
          <p:nvPr/>
        </p:nvSpPr>
        <p:spPr>
          <a:xfrm>
            <a:off x="4434840" y="5138928"/>
            <a:ext cx="585216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Chat and translate in four languages, with copy-ready code for every request.</a:t>
            </a:r>
            <a:endParaRPr lang="en-US" sz="1500" dirty="0"/>
          </a:p>
        </p:txBody>
      </p:sp>
      <p:sp>
        <p:nvSpPr>
          <p:cNvPr id="31" name="status-49"/>
          <p:cNvSpPr/>
          <p:nvPr/>
        </p:nvSpPr>
        <p:spPr>
          <a:xfrm>
            <a:off x="10561320" y="5303520"/>
            <a:ext cx="1078992" cy="384048"/>
          </a:xfrm>
          <a:prstGeom prst="roundRect">
            <a:avLst>
              <a:gd name="adj" fmla="val 50000"/>
            </a:avLst>
          </a:prstGeom>
          <a:solidFill>
            <a:schemeClr val="accent3">
              <a:alpha val="15000"/>
            </a:schemeClr>
          </a:solidFill>
          <a:ln/>
        </p:spPr>
      </p:sp>
      <p:sp>
        <p:nvSpPr>
          <p:cNvPr id="32" name="text-50"/>
          <p:cNvSpPr txBox="1"/>
          <p:nvPr/>
        </p:nvSpPr>
        <p:spPr>
          <a:xfrm>
            <a:off x="10561320" y="5303520"/>
            <a:ext cx="1078992" cy="384048"/>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Live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client reaches N-ATLAS through one server</a:t>
            </a:r>
            <a:endParaRPr lang="en-US" sz="3200" dirty="0"/>
          </a:p>
        </p:txBody>
      </p:sp>
      <p:sp>
        <p:nvSpPr>
          <p:cNvPr id="3" name="box-51"/>
          <p:cNvSpPr/>
          <p:nvPr/>
        </p:nvSpPr>
        <p:spPr>
          <a:xfrm>
            <a:off x="548640" y="1417320"/>
            <a:ext cx="2602154" cy="868680"/>
          </a:xfrm>
          <a:prstGeom prst="roundRect">
            <a:avLst>
              <a:gd name="adj" fmla="val 10526"/>
            </a:avLst>
          </a:prstGeom>
          <a:solidFill>
            <a:schemeClr val="bg1"/>
          </a:solidFill>
          <a:ln w="12700">
            <a:solidFill>
              <a:schemeClr val="accent5"/>
            </a:solidFill>
            <a:prstDash val="solid"/>
          </a:ln>
        </p:spPr>
      </p:sp>
      <p:sp>
        <p:nvSpPr>
          <p:cNvPr id="4" name="text-52"/>
          <p:cNvSpPr txBox="1"/>
          <p:nvPr/>
        </p:nvSpPr>
        <p:spPr>
          <a:xfrm>
            <a:off x="548640" y="1508760"/>
            <a:ext cx="2602154"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Browser playground</a:t>
            </a:r>
            <a:endParaRPr lang="en-US" sz="1600" dirty="0"/>
          </a:p>
        </p:txBody>
      </p:sp>
      <p:sp>
        <p:nvSpPr>
          <p:cNvPr id="5" name="text-53"/>
          <p:cNvSpPr txBox="1"/>
          <p:nvPr/>
        </p:nvSpPr>
        <p:spPr>
          <a:xfrm>
            <a:off x="548640" y="1874520"/>
            <a:ext cx="2602154"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chat, translate, code</a:t>
            </a:r>
            <a:endParaRPr lang="en-US" sz="1200" dirty="0"/>
          </a:p>
        </p:txBody>
      </p:sp>
      <p:sp>
        <p:nvSpPr>
          <p:cNvPr id="6" name="arrow-54"/>
          <p:cNvSpPr/>
          <p:nvPr/>
        </p:nvSpPr>
        <p:spPr>
          <a:xfrm>
            <a:off x="1849717" y="2286000"/>
            <a:ext cx="0" cy="347472"/>
          </a:xfrm>
          <a:prstGeom prst="line">
            <a:avLst/>
          </a:prstGeom>
          <a:noFill/>
          <a:ln w="15875">
            <a:solidFill>
              <a:schemeClr val="accent5"/>
            </a:solidFill>
            <a:prstDash val="solid"/>
            <a:tailEnd type="triangle"/>
          </a:ln>
        </p:spPr>
      </p:sp>
      <p:sp>
        <p:nvSpPr>
          <p:cNvPr id="7" name="box-55"/>
          <p:cNvSpPr/>
          <p:nvPr/>
        </p:nvSpPr>
        <p:spPr>
          <a:xfrm>
            <a:off x="3379394" y="1417320"/>
            <a:ext cx="2602154" cy="868680"/>
          </a:xfrm>
          <a:prstGeom prst="roundRect">
            <a:avLst>
              <a:gd name="adj" fmla="val 10526"/>
            </a:avLst>
          </a:prstGeom>
          <a:solidFill>
            <a:schemeClr val="bg1"/>
          </a:solidFill>
          <a:ln w="12700">
            <a:solidFill>
              <a:schemeClr val="accent5"/>
            </a:solidFill>
            <a:prstDash val="solid"/>
          </a:ln>
        </p:spPr>
      </p:sp>
      <p:sp>
        <p:nvSpPr>
          <p:cNvPr id="8" name="text-56"/>
          <p:cNvSpPr txBox="1"/>
          <p:nvPr/>
        </p:nvSpPr>
        <p:spPr>
          <a:xfrm>
            <a:off x="3379394" y="1508760"/>
            <a:ext cx="2602154"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TypeScript SDK</a:t>
            </a:r>
            <a:endParaRPr lang="en-US" sz="1600" dirty="0"/>
          </a:p>
        </p:txBody>
      </p:sp>
      <p:sp>
        <p:nvSpPr>
          <p:cNvPr id="9" name="text-57"/>
          <p:cNvSpPr txBox="1"/>
          <p:nvPr/>
        </p:nvSpPr>
        <p:spPr>
          <a:xfrm>
            <a:off x="3379394" y="1874520"/>
            <a:ext cx="2602154"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npm; Next.js starter</a:t>
            </a:r>
            <a:endParaRPr lang="en-US" sz="1200" dirty="0"/>
          </a:p>
        </p:txBody>
      </p:sp>
      <p:sp>
        <p:nvSpPr>
          <p:cNvPr id="10" name="arrow-58"/>
          <p:cNvSpPr/>
          <p:nvPr/>
        </p:nvSpPr>
        <p:spPr>
          <a:xfrm>
            <a:off x="4680471" y="2286000"/>
            <a:ext cx="0" cy="347472"/>
          </a:xfrm>
          <a:prstGeom prst="line">
            <a:avLst/>
          </a:prstGeom>
          <a:noFill/>
          <a:ln w="15875">
            <a:solidFill>
              <a:schemeClr val="accent5"/>
            </a:solidFill>
            <a:prstDash val="solid"/>
            <a:tailEnd type="triangle"/>
          </a:ln>
        </p:spPr>
      </p:sp>
      <p:sp>
        <p:nvSpPr>
          <p:cNvPr id="11" name="box-59"/>
          <p:cNvSpPr/>
          <p:nvPr/>
        </p:nvSpPr>
        <p:spPr>
          <a:xfrm>
            <a:off x="6210148" y="1417320"/>
            <a:ext cx="2602154" cy="868680"/>
          </a:xfrm>
          <a:prstGeom prst="roundRect">
            <a:avLst>
              <a:gd name="adj" fmla="val 10526"/>
            </a:avLst>
          </a:prstGeom>
          <a:solidFill>
            <a:schemeClr val="bg1"/>
          </a:solidFill>
          <a:ln w="12700">
            <a:solidFill>
              <a:schemeClr val="accent5"/>
            </a:solidFill>
            <a:prstDash val="solid"/>
          </a:ln>
        </p:spPr>
      </p:sp>
      <p:sp>
        <p:nvSpPr>
          <p:cNvPr id="12" name="text-60"/>
          <p:cNvSpPr txBox="1"/>
          <p:nvPr/>
        </p:nvSpPr>
        <p:spPr>
          <a:xfrm>
            <a:off x="6210148" y="1508760"/>
            <a:ext cx="2602154"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.NET SDK</a:t>
            </a:r>
            <a:endParaRPr lang="en-US" sz="1600" dirty="0"/>
          </a:p>
        </p:txBody>
      </p:sp>
      <p:sp>
        <p:nvSpPr>
          <p:cNvPr id="13" name="text-61"/>
          <p:cNvSpPr txBox="1"/>
          <p:nvPr/>
        </p:nvSpPr>
        <p:spPr>
          <a:xfrm>
            <a:off x="6210148" y="1874520"/>
            <a:ext cx="2602154"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.NET 8 and Framework</a:t>
            </a:r>
            <a:endParaRPr lang="en-US" sz="1200" dirty="0"/>
          </a:p>
        </p:txBody>
      </p:sp>
      <p:sp>
        <p:nvSpPr>
          <p:cNvPr id="14" name="arrow-62"/>
          <p:cNvSpPr/>
          <p:nvPr/>
        </p:nvSpPr>
        <p:spPr>
          <a:xfrm>
            <a:off x="7511225" y="2286000"/>
            <a:ext cx="0" cy="347472"/>
          </a:xfrm>
          <a:prstGeom prst="line">
            <a:avLst/>
          </a:prstGeom>
          <a:noFill/>
          <a:ln w="15875">
            <a:solidFill>
              <a:schemeClr val="accent5"/>
            </a:solidFill>
            <a:prstDash val="solid"/>
            <a:tailEnd type="triangle"/>
          </a:ln>
        </p:spPr>
      </p:sp>
      <p:sp>
        <p:nvSpPr>
          <p:cNvPr id="15" name="box-63"/>
          <p:cNvSpPr/>
          <p:nvPr/>
        </p:nvSpPr>
        <p:spPr>
          <a:xfrm>
            <a:off x="9040901" y="1417320"/>
            <a:ext cx="2602154" cy="868680"/>
          </a:xfrm>
          <a:prstGeom prst="roundRect">
            <a:avLst>
              <a:gd name="adj" fmla="val 10526"/>
            </a:avLst>
          </a:prstGeom>
          <a:solidFill>
            <a:schemeClr val="bg1"/>
          </a:solidFill>
          <a:ln w="12700">
            <a:solidFill>
              <a:schemeClr val="accent5"/>
            </a:solidFill>
            <a:prstDash val="solid"/>
          </a:ln>
        </p:spPr>
      </p:sp>
      <p:sp>
        <p:nvSpPr>
          <p:cNvPr id="16" name="text-64"/>
          <p:cNvSpPr txBox="1"/>
          <p:nvPr/>
        </p:nvSpPr>
        <p:spPr>
          <a:xfrm>
            <a:off x="9040901" y="1508760"/>
            <a:ext cx="2602154"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Any OpenAI client</a:t>
            </a:r>
            <a:endParaRPr lang="en-US" sz="1600" dirty="0"/>
          </a:p>
        </p:txBody>
      </p:sp>
      <p:sp>
        <p:nvSpPr>
          <p:cNvPr id="17" name="text-65"/>
          <p:cNvSpPr txBox="1"/>
          <p:nvPr/>
        </p:nvSpPr>
        <p:spPr>
          <a:xfrm>
            <a:off x="9040901" y="1874520"/>
            <a:ext cx="2602154"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change one URL</a:t>
            </a:r>
            <a:endParaRPr lang="en-US" sz="1200" dirty="0"/>
          </a:p>
        </p:txBody>
      </p:sp>
      <p:sp>
        <p:nvSpPr>
          <p:cNvPr id="18" name="arrow-66"/>
          <p:cNvSpPr/>
          <p:nvPr/>
        </p:nvSpPr>
        <p:spPr>
          <a:xfrm>
            <a:off x="10341978" y="2286000"/>
            <a:ext cx="0" cy="347472"/>
          </a:xfrm>
          <a:prstGeom prst="line">
            <a:avLst/>
          </a:prstGeom>
          <a:noFill/>
          <a:ln w="15875">
            <a:solidFill>
              <a:schemeClr val="accent5"/>
            </a:solidFill>
            <a:prstDash val="solid"/>
            <a:tailEnd type="triangle"/>
          </a:ln>
        </p:spPr>
      </p:sp>
      <p:sp>
        <p:nvSpPr>
          <p:cNvPr id="19" name="box-67"/>
          <p:cNvSpPr/>
          <p:nvPr/>
        </p:nvSpPr>
        <p:spPr>
          <a:xfrm>
            <a:off x="548640" y="2651760"/>
            <a:ext cx="11094415" cy="731520"/>
          </a:xfrm>
          <a:prstGeom prst="roundRect">
            <a:avLst>
              <a:gd name="adj" fmla="val 12500"/>
            </a:avLst>
          </a:prstGeom>
          <a:solidFill>
            <a:schemeClr val="bg1"/>
          </a:solidFill>
          <a:ln w="12700">
            <a:solidFill>
              <a:schemeClr val="accent5"/>
            </a:solidFill>
            <a:prstDash val="solid"/>
          </a:ln>
        </p:spPr>
      </p:sp>
      <p:sp>
        <p:nvSpPr>
          <p:cNvPr id="20" name="text-68"/>
          <p:cNvSpPr txBox="1"/>
          <p:nvPr/>
        </p:nvSpPr>
        <p:spPr>
          <a:xfrm>
            <a:off x="548640" y="2715768"/>
            <a:ext cx="11094415" cy="347472"/>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Public URL and API key check</a:t>
            </a:r>
            <a:endParaRPr lang="en-US" sz="1600" dirty="0"/>
          </a:p>
        </p:txBody>
      </p:sp>
      <p:sp>
        <p:nvSpPr>
          <p:cNvPr id="21" name="text-69"/>
          <p:cNvSpPr txBox="1"/>
          <p:nvPr/>
        </p:nvSpPr>
        <p:spPr>
          <a:xfrm>
            <a:off x="548640" y="3044952"/>
            <a:ext cx="11094415" cy="292608"/>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HTTPS tunnel · Authorization: Bearer key · requests without it are refused (401)</a:t>
            </a:r>
            <a:endParaRPr lang="en-US" sz="1200" dirty="0"/>
          </a:p>
        </p:txBody>
      </p:sp>
      <p:sp>
        <p:nvSpPr>
          <p:cNvPr id="22" name="arrow-70"/>
          <p:cNvSpPr/>
          <p:nvPr/>
        </p:nvSpPr>
        <p:spPr>
          <a:xfrm>
            <a:off x="6095848" y="3383280"/>
            <a:ext cx="0" cy="347472"/>
          </a:xfrm>
          <a:prstGeom prst="line">
            <a:avLst/>
          </a:prstGeom>
          <a:noFill/>
          <a:ln w="15875">
            <a:solidFill>
              <a:schemeClr val="accent5"/>
            </a:solidFill>
            <a:prstDash val="solid"/>
            <a:tailEnd type="triangle"/>
          </a:ln>
        </p:spPr>
      </p:sp>
      <p:sp>
        <p:nvSpPr>
          <p:cNvPr id="23" name="box-71"/>
          <p:cNvSpPr/>
          <p:nvPr/>
        </p:nvSpPr>
        <p:spPr>
          <a:xfrm>
            <a:off x="548640" y="3749040"/>
            <a:ext cx="11094415" cy="960120"/>
          </a:xfrm>
          <a:prstGeom prst="roundRect">
            <a:avLst>
              <a:gd name="adj" fmla="val 9524"/>
            </a:avLst>
          </a:prstGeom>
          <a:solidFill>
            <a:schemeClr val="tx2"/>
          </a:solidFill>
          <a:ln w="12700">
            <a:solidFill>
              <a:schemeClr val="tx2"/>
            </a:solidFill>
            <a:prstDash val="solid"/>
          </a:ln>
        </p:spPr>
      </p:sp>
      <p:sp>
        <p:nvSpPr>
          <p:cNvPr id="24" name="text-72"/>
          <p:cNvSpPr txBox="1"/>
          <p:nvPr/>
        </p:nvSpPr>
        <p:spPr>
          <a:xfrm>
            <a:off x="548640" y="3840480"/>
            <a:ext cx="11094415" cy="365760"/>
          </a:xfrm>
          <a:prstGeom prst="rect">
            <a:avLst/>
          </a:prstGeom>
          <a:noFill/>
          <a:ln/>
        </p:spPr>
        <p:txBody>
          <a:bodyPr wrap="square" lIns="0" tIns="0" rIns="0" bIns="0" rtlCol="0" anchor="t"/>
          <a:lstStyle/>
          <a:p>
            <a:pPr algn="ctr" indent="0" marL="0">
              <a:buNone/>
            </a:pPr>
            <a:r>
              <a:rPr lang="en-US" sz="1700" b="1" dirty="0">
                <a:solidFill>
                  <a:schemeClr val="bg1"/>
                </a:solidFill>
                <a:latin typeface="Calibri" pitchFamily="34" charset="0"/>
                <a:ea typeface="Calibri" pitchFamily="34" charset="-122"/>
                <a:cs typeface="Calibri" pitchFamily="34" charset="-120"/>
              </a:rPr>
              <a:t>N-ATLAS server · FastAPI · OpenAI-compatible</a:t>
            </a:r>
            <a:endParaRPr lang="en-US" sz="1700" dirty="0"/>
          </a:p>
        </p:txBody>
      </p:sp>
      <p:sp>
        <p:nvSpPr>
          <p:cNvPr id="25" name="text-73"/>
          <p:cNvSpPr txBox="1"/>
          <p:nvPr/>
        </p:nvSpPr>
        <p:spPr>
          <a:xfrm>
            <a:off x="548640" y="4224528"/>
            <a:ext cx="11094415" cy="365760"/>
          </a:xfrm>
          <a:prstGeom prst="rect">
            <a:avLst/>
          </a:prstGeom>
          <a:noFill/>
          <a:ln/>
        </p:spPr>
        <p:txBody>
          <a:bodyPr wrap="square" lIns="0" tIns="0" rIns="0" bIns="0" rtlCol="0" anchor="t"/>
          <a:lstStyle/>
          <a:p>
            <a:pPr algn="ctr" indent="0" marL="0">
              <a:buNone/>
            </a:pPr>
            <a:r>
              <a:rPr lang="en-US" sz="1300" dirty="0">
                <a:solidFill>
                  <a:schemeClr val="bg2"/>
                </a:solidFill>
                <a:latin typeface="Calibri" pitchFamily="34" charset="0"/>
                <a:ea typeface="Calibri" pitchFamily="34" charset="-122"/>
                <a:cs typeface="Calibri" pitchFamily="34" charset="-120"/>
              </a:rPr>
              <a:t>/v1/chat/completions (streaming) · /v1/translate · /v1/detect-language · /v1/stats (no message text) · /health</a:t>
            </a:r>
            <a:endParaRPr lang="en-US" sz="1300" dirty="0"/>
          </a:p>
        </p:txBody>
      </p:sp>
      <p:sp>
        <p:nvSpPr>
          <p:cNvPr id="26" name="arrow-74"/>
          <p:cNvSpPr/>
          <p:nvPr/>
        </p:nvSpPr>
        <p:spPr>
          <a:xfrm>
            <a:off x="2306269" y="4709160"/>
            <a:ext cx="0" cy="347472"/>
          </a:xfrm>
          <a:prstGeom prst="line">
            <a:avLst/>
          </a:prstGeom>
          <a:noFill/>
          <a:ln w="15875">
            <a:solidFill>
              <a:schemeClr val="accent5"/>
            </a:solidFill>
            <a:prstDash val="solid"/>
            <a:tailEnd type="triangle"/>
          </a:ln>
        </p:spPr>
      </p:sp>
      <p:sp>
        <p:nvSpPr>
          <p:cNvPr id="27" name="box-75"/>
          <p:cNvSpPr/>
          <p:nvPr/>
        </p:nvSpPr>
        <p:spPr>
          <a:xfrm>
            <a:off x="548640" y="5074920"/>
            <a:ext cx="3515258" cy="960120"/>
          </a:xfrm>
          <a:prstGeom prst="roundRect">
            <a:avLst>
              <a:gd name="adj" fmla="val 9524"/>
            </a:avLst>
          </a:prstGeom>
          <a:solidFill>
            <a:schemeClr val="bg1"/>
          </a:solidFill>
          <a:ln w="28575">
            <a:solidFill>
              <a:schemeClr val="accent2"/>
            </a:solidFill>
            <a:prstDash val="solid"/>
          </a:ln>
        </p:spPr>
      </p:sp>
      <p:sp>
        <p:nvSpPr>
          <p:cNvPr id="28" name="text-76"/>
          <p:cNvSpPr txBox="1"/>
          <p:nvPr/>
        </p:nvSpPr>
        <p:spPr>
          <a:xfrm>
            <a:off x="548640" y="5166360"/>
            <a:ext cx="3515258"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llama.cpp · live demo</a:t>
            </a:r>
            <a:endParaRPr lang="en-US" sz="1600" dirty="0"/>
          </a:p>
        </p:txBody>
      </p:sp>
      <p:sp>
        <p:nvSpPr>
          <p:cNvPr id="29" name="text-77"/>
          <p:cNvSpPr txBox="1"/>
          <p:nvPr/>
        </p:nvSpPr>
        <p:spPr>
          <a:xfrm>
            <a:off x="731520" y="5513832"/>
            <a:ext cx="3149498" cy="45720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N-ATLaS Q4 GGUF, 4.9 GB</a:t>
            </a:r>
            <a:endParaRPr lang="en-US" sz="1200" dirty="0"/>
          </a:p>
          <a:p>
            <a:pPr algn="ctr" indent="0" marL="0">
              <a:buNone/>
            </a:pPr>
            <a:r>
              <a:rPr lang="en-US" sz="1200" dirty="0">
                <a:solidFill>
                  <a:schemeClr val="accent5"/>
                </a:solidFill>
                <a:latin typeface="Calibri" pitchFamily="34" charset="0"/>
                <a:ea typeface="Calibri" pitchFamily="34" charset="-122"/>
                <a:cs typeface="Calibri" pitchFamily="34" charset="-120"/>
              </a:rPr>
              <a:t>laptop CPU or 6 GB GPU</a:t>
            </a:r>
            <a:endParaRPr lang="en-US" sz="1200" dirty="0"/>
          </a:p>
        </p:txBody>
      </p:sp>
      <p:sp>
        <p:nvSpPr>
          <p:cNvPr id="30" name="arrow-78"/>
          <p:cNvSpPr/>
          <p:nvPr/>
        </p:nvSpPr>
        <p:spPr>
          <a:xfrm>
            <a:off x="6095848" y="4709160"/>
            <a:ext cx="0" cy="347472"/>
          </a:xfrm>
          <a:prstGeom prst="line">
            <a:avLst/>
          </a:prstGeom>
          <a:noFill/>
          <a:ln w="15875">
            <a:solidFill>
              <a:schemeClr val="accent5"/>
            </a:solidFill>
            <a:prstDash val="solid"/>
            <a:tailEnd type="triangle"/>
          </a:ln>
        </p:spPr>
      </p:sp>
      <p:sp>
        <p:nvSpPr>
          <p:cNvPr id="31" name="box-79"/>
          <p:cNvSpPr/>
          <p:nvPr/>
        </p:nvSpPr>
        <p:spPr>
          <a:xfrm>
            <a:off x="4338218" y="5074920"/>
            <a:ext cx="3515258" cy="960120"/>
          </a:xfrm>
          <a:prstGeom prst="roundRect">
            <a:avLst>
              <a:gd name="adj" fmla="val 9524"/>
            </a:avLst>
          </a:prstGeom>
          <a:solidFill>
            <a:schemeClr val="bg1"/>
          </a:solidFill>
          <a:ln w="12700">
            <a:solidFill>
              <a:schemeClr val="accent5"/>
            </a:solidFill>
            <a:prstDash val="solid"/>
          </a:ln>
        </p:spPr>
      </p:sp>
      <p:sp>
        <p:nvSpPr>
          <p:cNvPr id="32" name="text-80"/>
          <p:cNvSpPr txBox="1"/>
          <p:nvPr/>
        </p:nvSpPr>
        <p:spPr>
          <a:xfrm>
            <a:off x="4338218" y="5166360"/>
            <a:ext cx="3515258"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transformers</a:t>
            </a:r>
            <a:endParaRPr lang="en-US" sz="1600" dirty="0"/>
          </a:p>
        </p:txBody>
      </p:sp>
      <p:sp>
        <p:nvSpPr>
          <p:cNvPr id="33" name="text-81"/>
          <p:cNvSpPr txBox="1"/>
          <p:nvPr/>
        </p:nvSpPr>
        <p:spPr>
          <a:xfrm>
            <a:off x="4521098" y="5513832"/>
            <a:ext cx="3149498" cy="45720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Official NCAIR1/N-ATLaS weights</a:t>
            </a:r>
            <a:endParaRPr lang="en-US" sz="1200" dirty="0"/>
          </a:p>
          <a:p>
            <a:pPr algn="ctr" indent="0" marL="0">
              <a:buNone/>
            </a:pPr>
            <a:r>
              <a:rPr lang="en-US" sz="1200" dirty="0">
                <a:solidFill>
                  <a:schemeClr val="accent5"/>
                </a:solidFill>
                <a:latin typeface="Calibri" pitchFamily="34" charset="0"/>
                <a:ea typeface="Calibri" pitchFamily="34" charset="-122"/>
                <a:cs typeface="Calibri" pitchFamily="34" charset="-120"/>
              </a:rPr>
              <a:t>GPU, e.g. free Colab T4</a:t>
            </a:r>
            <a:endParaRPr lang="en-US" sz="1200" dirty="0"/>
          </a:p>
        </p:txBody>
      </p:sp>
      <p:sp>
        <p:nvSpPr>
          <p:cNvPr id="34" name="arrow-82"/>
          <p:cNvSpPr/>
          <p:nvPr/>
        </p:nvSpPr>
        <p:spPr>
          <a:xfrm>
            <a:off x="9885426" y="4709160"/>
            <a:ext cx="0" cy="347472"/>
          </a:xfrm>
          <a:prstGeom prst="line">
            <a:avLst/>
          </a:prstGeom>
          <a:noFill/>
          <a:ln w="15875">
            <a:solidFill>
              <a:schemeClr val="accent5"/>
            </a:solidFill>
            <a:prstDash val="solid"/>
            <a:tailEnd type="triangle"/>
          </a:ln>
        </p:spPr>
      </p:sp>
      <p:sp>
        <p:nvSpPr>
          <p:cNvPr id="35" name="box-83"/>
          <p:cNvSpPr/>
          <p:nvPr/>
        </p:nvSpPr>
        <p:spPr>
          <a:xfrm>
            <a:off x="8127797" y="5074920"/>
            <a:ext cx="3515258" cy="960120"/>
          </a:xfrm>
          <a:prstGeom prst="roundRect">
            <a:avLst>
              <a:gd name="adj" fmla="val 9524"/>
            </a:avLst>
          </a:prstGeom>
          <a:solidFill>
            <a:schemeClr val="bg1"/>
          </a:solidFill>
          <a:ln w="12700">
            <a:solidFill>
              <a:schemeClr val="accent5"/>
            </a:solidFill>
            <a:prstDash val="solid"/>
          </a:ln>
        </p:spPr>
      </p:sp>
      <p:sp>
        <p:nvSpPr>
          <p:cNvPr id="36" name="text-84"/>
          <p:cNvSpPr txBox="1"/>
          <p:nvPr/>
        </p:nvSpPr>
        <p:spPr>
          <a:xfrm>
            <a:off x="8127797" y="5166360"/>
            <a:ext cx="3515258"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mock</a:t>
            </a:r>
            <a:endParaRPr lang="en-US" sz="1600" dirty="0"/>
          </a:p>
        </p:txBody>
      </p:sp>
      <p:sp>
        <p:nvSpPr>
          <p:cNvPr id="37" name="text-85"/>
          <p:cNvSpPr txBox="1"/>
          <p:nvPr/>
        </p:nvSpPr>
        <p:spPr>
          <a:xfrm>
            <a:off x="8310677" y="5513832"/>
            <a:ext cx="3149498" cy="45720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No model</a:t>
            </a:r>
            <a:endParaRPr lang="en-US" sz="1200" dirty="0"/>
          </a:p>
          <a:p>
            <a:pPr algn="ctr" indent="0" marL="0">
              <a:buNone/>
            </a:pPr>
            <a:r>
              <a:rPr lang="en-US" sz="1200" dirty="0">
                <a:solidFill>
                  <a:schemeClr val="accent5"/>
                </a:solidFill>
                <a:latin typeface="Calibri" pitchFamily="34" charset="0"/>
                <a:ea typeface="Calibri" pitchFamily="34" charset="-122"/>
                <a:cs typeface="Calibri" pitchFamily="34" charset="-120"/>
              </a:rPr>
              <a:t>CI and SDK tests only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Existing OpenAI code switches by changing one URL</a:t>
            </a:r>
            <a:endParaRPr lang="en-US" sz="3200" dirty="0"/>
          </a:p>
        </p:txBody>
      </p:sp>
      <p:sp>
        <p:nvSpPr>
          <p:cNvPr id="3" name="text-86"/>
          <p:cNvSpPr txBox="1"/>
          <p:nvPr/>
        </p:nvSpPr>
        <p:spPr>
          <a:xfrm>
            <a:off x="548640" y="1371600"/>
            <a:ext cx="5364328" cy="36576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Python · the official OpenAI SDK</a:t>
            </a:r>
            <a:endParaRPr lang="en-US" sz="1500" dirty="0"/>
          </a:p>
        </p:txBody>
      </p:sp>
      <p:sp>
        <p:nvSpPr>
          <p:cNvPr id="4" name="code-panel-87"/>
          <p:cNvSpPr/>
          <p:nvPr/>
        </p:nvSpPr>
        <p:spPr>
          <a:xfrm>
            <a:off x="548640" y="1783080"/>
            <a:ext cx="5364328" cy="3429000"/>
          </a:xfrm>
          <a:prstGeom prst="roundRect">
            <a:avLst>
              <a:gd name="adj" fmla="val 3200"/>
            </a:avLst>
          </a:prstGeom>
          <a:solidFill>
            <a:schemeClr val="tx2"/>
          </a:solidFill>
          <a:ln/>
        </p:spPr>
      </p:sp>
      <p:sp>
        <p:nvSpPr>
          <p:cNvPr id="5" name="code-88"/>
          <p:cNvSpPr txBox="1"/>
          <p:nvPr/>
        </p:nvSpPr>
        <p:spPr>
          <a:xfrm>
            <a:off x="822960" y="2011680"/>
            <a:ext cx="4815688" cy="30175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from openai import OpenAI</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client = OpenAI(</a:t>
            </a:r>
            <a:endParaRPr lang="en-US" sz="1400" dirty="0"/>
          </a:p>
          <a:p>
            <a:pPr indent="0" marL="0">
              <a:buNone/>
            </a:pPr>
            <a:r>
              <a:rPr lang="en-US" sz="1400" b="1" dirty="0">
                <a:solidFill>
                  <a:schemeClr val="accent2"/>
                </a:solidFill>
                <a:latin typeface="Courier New" pitchFamily="34" charset="0"/>
                <a:ea typeface="Courier New" pitchFamily="34" charset="-122"/>
                <a:cs typeface="Courier New" pitchFamily="34" charset="-120"/>
              </a:rPr>
              <a:t>    base_url="https://&lt;server&gt;/v1",</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api_key=NATLAS_API_KEY,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r = client.chat.completions.create(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model="n-atlas",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messages=[{"role": "user",</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"content": "Sannu!"}],</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6" name="text-89"/>
          <p:cNvSpPr txBox="1"/>
          <p:nvPr/>
        </p:nvSpPr>
        <p:spPr>
          <a:xfrm>
            <a:off x="6278728" y="1371600"/>
            <a:ext cx="5364328" cy="36576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TypeScript · @akindats/natlas</a:t>
            </a:r>
            <a:endParaRPr lang="en-US" sz="1500" dirty="0"/>
          </a:p>
        </p:txBody>
      </p:sp>
      <p:sp>
        <p:nvSpPr>
          <p:cNvPr id="7" name="code-panel-90"/>
          <p:cNvSpPr/>
          <p:nvPr/>
        </p:nvSpPr>
        <p:spPr>
          <a:xfrm>
            <a:off x="6278728" y="1783080"/>
            <a:ext cx="5364328" cy="3429000"/>
          </a:xfrm>
          <a:prstGeom prst="roundRect">
            <a:avLst>
              <a:gd name="adj" fmla="val 3200"/>
            </a:avLst>
          </a:prstGeom>
          <a:solidFill>
            <a:schemeClr val="tx2"/>
          </a:solidFill>
          <a:ln/>
        </p:spPr>
      </p:sp>
      <p:sp>
        <p:nvSpPr>
          <p:cNvPr id="8" name="code-91"/>
          <p:cNvSpPr txBox="1"/>
          <p:nvPr/>
        </p:nvSpPr>
        <p:spPr>
          <a:xfrm>
            <a:off x="6553048" y="2011680"/>
            <a:ext cx="4815688" cy="30175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import { NAtlas } from "@akindats/natlas";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const natlas = new NAtlas({ apiKey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chemeClr val="accent2"/>
                </a:solidFill>
                <a:latin typeface="Courier New" pitchFamily="34" charset="0"/>
                <a:ea typeface="Courier New" pitchFamily="34" charset="-122"/>
                <a:cs typeface="Courier New" pitchFamily="34" charset="-120"/>
              </a:rPr>
              <a:t>await natlas.ask("Explain inflation",</a:t>
            </a:r>
            <a:endParaRPr lang="en-US" sz="1400" dirty="0"/>
          </a:p>
          <a:p>
            <a:pPr indent="0" marL="0">
              <a:buNone/>
            </a:pPr>
            <a:r>
              <a:rPr lang="en-US" sz="1400" b="1" dirty="0">
                <a:solidFill>
                  <a:schemeClr val="accent2"/>
                </a:solidFill>
                <a:latin typeface="Courier New" pitchFamily="34" charset="0"/>
                <a:ea typeface="Courier New" pitchFamily="34" charset="-122"/>
                <a:cs typeface="Courier New" pitchFamily="34" charset="-120"/>
              </a:rPr>
              <a:t>                 { replyIn: "ha"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await natlas.translate("Delivered", "ig");</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for await (const t of natlas.stream("Hi"))</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process.stdout.write(t);</a:t>
            </a:r>
            <a:endParaRPr lang="en-US" sz="1400" dirty="0"/>
          </a:p>
        </p:txBody>
      </p:sp>
      <p:sp>
        <p:nvSpPr>
          <p:cNvPr id="9" name="text-92"/>
          <p:cNvSpPr txBox="1"/>
          <p:nvPr/>
        </p:nvSpPr>
        <p:spPr>
          <a:xfrm>
            <a:off x="548640" y="5440680"/>
            <a:ext cx="11094415" cy="411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Python, JavaScript, C# or curl: the same API, plus reply_language to force English, Hausa, Igbo or Yoruba replies.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 browser playground that teaches the API as you use it</a:t>
            </a:r>
            <a:endParaRPr lang="en-US" sz="3200" dirty="0"/>
          </a:p>
        </p:txBody>
      </p:sp>
      <p:pic>
        <p:nvPicPr>
          <p:cNvPr id="3" name="playground-93" descr="N-ATLAS playground answering a Hausa question, with the Build with it code panel">    </p:cNvPr>
          <p:cNvPicPr>
            <a:picLocks noChangeAspect="1"/>
          </p:cNvPicPr>
          <p:nvPr/>
        </p:nvPicPr>
        <p:blipFill>
          <a:blip r:embed="rId1"/>
          <a:stretch>
            <a:fillRect/>
          </a:stretch>
        </p:blipFill>
        <p:spPr>
          <a:xfrm>
            <a:off x="548640" y="1417320"/>
            <a:ext cx="6858000" cy="4554629"/>
          </a:xfrm>
          <a:prstGeom prst="rect">
            <a:avLst/>
          </a:prstGeom>
        </p:spPr>
      </p:pic>
      <p:sp>
        <p:nvSpPr>
          <p:cNvPr id="4" name="frame-94"/>
          <p:cNvSpPr/>
          <p:nvPr/>
        </p:nvSpPr>
        <p:spPr>
          <a:xfrm>
            <a:off x="548640" y="1417320"/>
            <a:ext cx="6858000" cy="4554629"/>
          </a:xfrm>
          <a:prstGeom prst="rect">
            <a:avLst/>
          </a:prstGeom>
          <a:ln w="9525">
            <a:solidFill>
              <a:schemeClr val="accent5"/>
            </a:solidFill>
            <a:prstDash val="solid"/>
          </a:ln>
        </p:spPr>
      </p:sp>
      <p:sp>
        <p:nvSpPr>
          <p:cNvPr id="5" name="marker-95"/>
          <p:cNvSpPr/>
          <p:nvPr/>
        </p:nvSpPr>
        <p:spPr>
          <a:xfrm>
            <a:off x="7726680" y="1463040"/>
            <a:ext cx="457200" cy="457200"/>
          </a:xfrm>
          <a:prstGeom prst="ellipse">
            <a:avLst/>
          </a:prstGeom>
          <a:solidFill>
            <a:schemeClr val="tx2"/>
          </a:solidFill>
          <a:ln/>
        </p:spPr>
      </p:sp>
      <p:sp>
        <p:nvSpPr>
          <p:cNvPr id="6" name="text-96"/>
          <p:cNvSpPr txBox="1"/>
          <p:nvPr/>
        </p:nvSpPr>
        <p:spPr>
          <a:xfrm>
            <a:off x="772668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97"/>
          <p:cNvSpPr txBox="1"/>
          <p:nvPr/>
        </p:nvSpPr>
        <p:spPr>
          <a:xfrm>
            <a:off x="8366760" y="1481328"/>
            <a:ext cx="329184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Chat in four languages</a:t>
            </a:r>
            <a:endParaRPr lang="en-US" sz="1800" dirty="0"/>
          </a:p>
        </p:txBody>
      </p:sp>
      <p:sp>
        <p:nvSpPr>
          <p:cNvPr id="8" name="text-98"/>
          <p:cNvSpPr txBox="1"/>
          <p:nvPr/>
        </p:nvSpPr>
        <p:spPr>
          <a:xfrm>
            <a:off x="8366760" y="1920240"/>
            <a:ext cx="32918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Streamed answers, a reply-language picker and the detected language on every message.</a:t>
            </a:r>
            <a:endParaRPr lang="en-US" sz="1500" dirty="0"/>
          </a:p>
        </p:txBody>
      </p:sp>
      <p:sp>
        <p:nvSpPr>
          <p:cNvPr id="9" name="marker-99"/>
          <p:cNvSpPr/>
          <p:nvPr/>
        </p:nvSpPr>
        <p:spPr>
          <a:xfrm>
            <a:off x="7726680" y="2926080"/>
            <a:ext cx="457200" cy="457200"/>
          </a:xfrm>
          <a:prstGeom prst="ellipse">
            <a:avLst/>
          </a:prstGeom>
          <a:solidFill>
            <a:schemeClr val="tx2"/>
          </a:solidFill>
          <a:ln/>
        </p:spPr>
      </p:sp>
      <p:sp>
        <p:nvSpPr>
          <p:cNvPr id="10" name="text-100"/>
          <p:cNvSpPr txBox="1"/>
          <p:nvPr/>
        </p:nvSpPr>
        <p:spPr>
          <a:xfrm>
            <a:off x="7726680" y="2926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101"/>
          <p:cNvSpPr txBox="1"/>
          <p:nvPr/>
        </p:nvSpPr>
        <p:spPr>
          <a:xfrm>
            <a:off x="8366760" y="2944368"/>
            <a:ext cx="329184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"Build with it" panel</a:t>
            </a:r>
            <a:endParaRPr lang="en-US" sz="1800" dirty="0"/>
          </a:p>
        </p:txBody>
      </p:sp>
      <p:sp>
        <p:nvSpPr>
          <p:cNvPr id="12" name="text-102"/>
          <p:cNvSpPr txBox="1"/>
          <p:nvPr/>
        </p:nvSpPr>
        <p:spPr>
          <a:xfrm>
            <a:off x="8366760" y="3383280"/>
            <a:ext cx="32918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Copy-ready curl, TypeScript, C# and Python code for the request you just made.</a:t>
            </a:r>
            <a:endParaRPr lang="en-US" sz="1500" dirty="0"/>
          </a:p>
        </p:txBody>
      </p:sp>
      <p:sp>
        <p:nvSpPr>
          <p:cNvPr id="13" name="marker-103"/>
          <p:cNvSpPr/>
          <p:nvPr/>
        </p:nvSpPr>
        <p:spPr>
          <a:xfrm>
            <a:off x="7726680" y="4389120"/>
            <a:ext cx="457200" cy="457200"/>
          </a:xfrm>
          <a:prstGeom prst="ellipse">
            <a:avLst/>
          </a:prstGeom>
          <a:solidFill>
            <a:schemeClr val="tx2"/>
          </a:solidFill>
          <a:ln/>
        </p:spPr>
      </p:sp>
      <p:sp>
        <p:nvSpPr>
          <p:cNvPr id="14" name="text-104"/>
          <p:cNvSpPr txBox="1"/>
          <p:nvPr/>
        </p:nvSpPr>
        <p:spPr>
          <a:xfrm>
            <a:off x="7726680" y="4389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105"/>
          <p:cNvSpPr txBox="1"/>
          <p:nvPr/>
        </p:nvSpPr>
        <p:spPr>
          <a:xfrm>
            <a:off x="8366760" y="4407408"/>
            <a:ext cx="329184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Honest speed</a:t>
            </a:r>
            <a:endParaRPr lang="en-US" sz="1800" dirty="0"/>
          </a:p>
        </p:txBody>
      </p:sp>
      <p:sp>
        <p:nvSpPr>
          <p:cNvPr id="16" name="text-106"/>
          <p:cNvSpPr txBox="1"/>
          <p:nvPr/>
        </p:nvSpPr>
        <p:spPr>
          <a:xfrm>
            <a:off x="8366760" y="4846320"/>
            <a:ext cx="329184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Time to first word, total time and tokens per second under every answer.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N-ATLAS is the only model, loaded directly</a:t>
            </a:r>
            <a:endParaRPr lang="en-US" sz="3200" dirty="0"/>
          </a:p>
        </p:txBody>
      </p:sp>
      <p:graphicFrame>
        <p:nvGraphicFramePr>
          <p:cNvPr id="8" name="table-107"/>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14600"/>
                <a:gridCol w="5806440"/>
                <a:gridCol w="2743200"/>
              </a:tblGrid>
              <a:tr h="502920">
                <a:tc>
                  <a:txBody>
                    <a:bodyPr/>
                    <a:lstStyle/>
                    <a:p>
                      <a:pPr indent="0" marL="0">
                        <a:buNone/>
                      </a:pPr>
                      <a:r>
                        <a:rPr lang="en-US" sz="1500" b="1" dirty="0">
                          <a:solidFill>
                            <a:schemeClr val="bg1"/>
                          </a:solidFill>
                        </a:rPr>
                        <a:t>Backend</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Model loaded</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Runs on</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r>
              <a:tr h="502920">
                <a:tc>
                  <a:txBody>
                    <a:bodyPr/>
                    <a:lstStyle/>
                    <a:p>
                      <a:pPr indent="0" marL="0">
                        <a:buNone/>
                      </a:pPr>
                      <a:r>
                        <a:rPr lang="en-US" sz="1500" b="1" dirty="0">
                          <a:solidFill>
                            <a:schemeClr val="tx1"/>
                          </a:solidFill>
                        </a:rPr>
                        <a:t>llama.cpp (live demo)</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NCAIR1/N-ATLaS, Q4_K_M quantised · 4.9 GB · SHA-256 checked</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Laptop CPU or 6 GB GPU</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transformers</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Official NCAIR1/N-ATLaS weights · optional 4-bit</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GPU, e.g. free Colab T4</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mock</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 model</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CI and SDK tests only</a:t>
                      </a:r>
                      <a:endParaRPr lang="en-US" sz="15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r>
            </a:tbl>
          </a:graphicData>
        </a:graphic>
      </p:graphicFrame>
      <p:sp>
        <p:nvSpPr>
          <p:cNvPr id="4" name="card-108"/>
          <p:cNvSpPr/>
          <p:nvPr/>
        </p:nvSpPr>
        <p:spPr>
          <a:xfrm>
            <a:off x="548640" y="3794760"/>
            <a:ext cx="3484778" cy="2011680"/>
          </a:xfrm>
          <a:prstGeom prst="roundRect">
            <a:avLst>
              <a:gd name="adj" fmla="val 5455"/>
            </a:avLst>
          </a:prstGeom>
          <a:solidFill>
            <a:schemeClr val="bg2"/>
          </a:solidFill>
          <a:ln/>
        </p:spPr>
      </p:sp>
      <p:sp>
        <p:nvSpPr>
          <p:cNvPr id="5" name="text-109"/>
          <p:cNvSpPr txBox="1"/>
          <p:nvPr/>
        </p:nvSpPr>
        <p:spPr>
          <a:xfrm>
            <a:off x="822960" y="4023360"/>
            <a:ext cx="293613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Model card followed</a:t>
            </a:r>
            <a:endParaRPr lang="en-US" sz="1800" dirty="0"/>
          </a:p>
        </p:txBody>
      </p:sp>
      <p:sp>
        <p:nvSpPr>
          <p:cNvPr id="6" name="text-110"/>
          <p:cNvSpPr txBox="1"/>
          <p:nvPr/>
        </p:nvSpPr>
        <p:spPr>
          <a:xfrm>
            <a:off x="822960" y="4480560"/>
            <a:ext cx="2936138"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Llama-3 chat template with date_string, repetition penalty 1.12, Awarri system prompt.</a:t>
            </a:r>
            <a:endParaRPr lang="en-US" sz="1500" dirty="0"/>
          </a:p>
        </p:txBody>
      </p:sp>
      <p:sp>
        <p:nvSpPr>
          <p:cNvPr id="7" name="card-111"/>
          <p:cNvSpPr/>
          <p:nvPr/>
        </p:nvSpPr>
        <p:spPr>
          <a:xfrm>
            <a:off x="4353458" y="3794760"/>
            <a:ext cx="3484778" cy="2011680"/>
          </a:xfrm>
          <a:prstGeom prst="roundRect">
            <a:avLst>
              <a:gd name="adj" fmla="val 5455"/>
            </a:avLst>
          </a:prstGeom>
          <a:solidFill>
            <a:schemeClr val="bg2"/>
          </a:solidFill>
          <a:ln/>
        </p:spPr>
      </p:sp>
      <p:sp>
        <p:nvSpPr>
          <p:cNvPr id="8" name="text-112"/>
          <p:cNvSpPr txBox="1"/>
          <p:nvPr/>
        </p:nvSpPr>
        <p:spPr>
          <a:xfrm>
            <a:off x="4627778" y="4023360"/>
            <a:ext cx="293613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Four languages only</a:t>
            </a:r>
            <a:endParaRPr lang="en-US" sz="1800" dirty="0"/>
          </a:p>
        </p:txBody>
      </p:sp>
      <p:sp>
        <p:nvSpPr>
          <p:cNvPr id="9" name="text-113"/>
          <p:cNvSpPr txBox="1"/>
          <p:nvPr/>
        </p:nvSpPr>
        <p:spPr>
          <a:xfrm>
            <a:off x="4627778" y="4480560"/>
            <a:ext cx="2936138"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English, Hausa, Igbo and Yoruba, the languages the model supports. Nothing wraps another model.</a:t>
            </a:r>
            <a:endParaRPr lang="en-US" sz="1500" dirty="0"/>
          </a:p>
        </p:txBody>
      </p:sp>
      <p:sp>
        <p:nvSpPr>
          <p:cNvPr id="10" name="card-114"/>
          <p:cNvSpPr/>
          <p:nvPr/>
        </p:nvSpPr>
        <p:spPr>
          <a:xfrm>
            <a:off x="8158277" y="3794760"/>
            <a:ext cx="3484778" cy="2011680"/>
          </a:xfrm>
          <a:prstGeom prst="roundRect">
            <a:avLst>
              <a:gd name="adj" fmla="val 5455"/>
            </a:avLst>
          </a:prstGeom>
          <a:solidFill>
            <a:schemeClr val="bg2"/>
          </a:solidFill>
          <a:ln/>
        </p:spPr>
      </p:sp>
      <p:sp>
        <p:nvSpPr>
          <p:cNvPr id="11" name="text-115"/>
          <p:cNvSpPr txBox="1"/>
          <p:nvPr/>
        </p:nvSpPr>
        <p:spPr>
          <a:xfrm>
            <a:off x="8432597" y="4023360"/>
            <a:ext cx="293613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Attribution in every layer</a:t>
            </a:r>
            <a:endParaRPr lang="en-US" sz="1800" dirty="0"/>
          </a:p>
        </p:txBody>
      </p:sp>
      <p:sp>
        <p:nvSpPr>
          <p:cNvPr id="12" name="text-116"/>
          <p:cNvSpPr txBox="1"/>
          <p:nvPr/>
        </p:nvSpPr>
        <p:spPr>
          <a:xfrm>
            <a:off x="8432597" y="4480560"/>
            <a:ext cx="2936138"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X-Powered-By header on every response; ATTRIBUTION constant in both SDKs.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Verified end to end on the real model</a:t>
            </a:r>
            <a:endParaRPr lang="en-US" sz="3200" dirty="0"/>
          </a:p>
        </p:txBody>
      </p:sp>
      <p:sp>
        <p:nvSpPr>
          <p:cNvPr id="3" name="card-117"/>
          <p:cNvSpPr/>
          <p:nvPr/>
        </p:nvSpPr>
        <p:spPr>
          <a:xfrm>
            <a:off x="548640" y="1463040"/>
            <a:ext cx="2567864" cy="2286000"/>
          </a:xfrm>
          <a:prstGeom prst="roundRect">
            <a:avLst>
              <a:gd name="adj" fmla="val 4800"/>
            </a:avLst>
          </a:prstGeom>
          <a:solidFill>
            <a:schemeClr val="bg2"/>
          </a:solidFill>
          <a:ln/>
        </p:spPr>
      </p:sp>
      <p:sp>
        <p:nvSpPr>
          <p:cNvPr id="4" name="text-118"/>
          <p:cNvSpPr txBox="1"/>
          <p:nvPr/>
        </p:nvSpPr>
        <p:spPr>
          <a:xfrm>
            <a:off x="822960" y="1737360"/>
            <a:ext cx="2019224"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7/7</a:t>
            </a:r>
            <a:endParaRPr lang="en-US" sz="5400" dirty="0"/>
          </a:p>
        </p:txBody>
      </p:sp>
      <p:sp>
        <p:nvSpPr>
          <p:cNvPr id="5" name="text-119"/>
          <p:cNvSpPr txBox="1"/>
          <p:nvPr/>
        </p:nvSpPr>
        <p:spPr>
          <a:xfrm>
            <a:off x="822960" y="2788920"/>
            <a:ext cx="2019224" cy="7772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server API tests pass</a:t>
            </a:r>
            <a:endParaRPr lang="en-US" sz="1600" dirty="0"/>
          </a:p>
        </p:txBody>
      </p:sp>
      <p:sp>
        <p:nvSpPr>
          <p:cNvPr id="6" name="card-120"/>
          <p:cNvSpPr/>
          <p:nvPr/>
        </p:nvSpPr>
        <p:spPr>
          <a:xfrm>
            <a:off x="3390824" y="1463040"/>
            <a:ext cx="2567864" cy="2286000"/>
          </a:xfrm>
          <a:prstGeom prst="roundRect">
            <a:avLst>
              <a:gd name="adj" fmla="val 4800"/>
            </a:avLst>
          </a:prstGeom>
          <a:solidFill>
            <a:schemeClr val="bg2"/>
          </a:solidFill>
          <a:ln/>
        </p:spPr>
      </p:sp>
      <p:sp>
        <p:nvSpPr>
          <p:cNvPr id="7" name="text-121"/>
          <p:cNvSpPr txBox="1"/>
          <p:nvPr/>
        </p:nvSpPr>
        <p:spPr>
          <a:xfrm>
            <a:off x="3665144" y="1737360"/>
            <a:ext cx="2019224"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6/6</a:t>
            </a:r>
            <a:endParaRPr lang="en-US" sz="5400" dirty="0"/>
          </a:p>
        </p:txBody>
      </p:sp>
      <p:sp>
        <p:nvSpPr>
          <p:cNvPr id="8" name="text-122"/>
          <p:cNvSpPr txBox="1"/>
          <p:nvPr/>
        </p:nvSpPr>
        <p:spPr>
          <a:xfrm>
            <a:off x="3665144" y="2788920"/>
            <a:ext cx="2019224" cy="7772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SDK tests pass through the public URL</a:t>
            </a:r>
            <a:endParaRPr lang="en-US" sz="1600" dirty="0"/>
          </a:p>
        </p:txBody>
      </p:sp>
      <p:sp>
        <p:nvSpPr>
          <p:cNvPr id="9" name="card-123"/>
          <p:cNvSpPr/>
          <p:nvPr/>
        </p:nvSpPr>
        <p:spPr>
          <a:xfrm>
            <a:off x="6233008" y="1463040"/>
            <a:ext cx="2567864" cy="2286000"/>
          </a:xfrm>
          <a:prstGeom prst="roundRect">
            <a:avLst>
              <a:gd name="adj" fmla="val 4800"/>
            </a:avLst>
          </a:prstGeom>
          <a:solidFill>
            <a:schemeClr val="bg2"/>
          </a:solidFill>
          <a:ln/>
        </p:spPr>
      </p:sp>
      <p:sp>
        <p:nvSpPr>
          <p:cNvPr id="10" name="text-124"/>
          <p:cNvSpPr txBox="1"/>
          <p:nvPr/>
        </p:nvSpPr>
        <p:spPr>
          <a:xfrm>
            <a:off x="6507328" y="1737360"/>
            <a:ext cx="2019224"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0.9 s</a:t>
            </a:r>
            <a:endParaRPr lang="en-US" sz="5400" dirty="0"/>
          </a:p>
        </p:txBody>
      </p:sp>
      <p:sp>
        <p:nvSpPr>
          <p:cNvPr id="11" name="text-125"/>
          <p:cNvSpPr txBox="1"/>
          <p:nvPr/>
        </p:nvSpPr>
        <p:spPr>
          <a:xfrm>
            <a:off x="6507328" y="2788920"/>
            <a:ext cx="2019224" cy="7772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to the first word in the playground</a:t>
            </a:r>
            <a:endParaRPr lang="en-US" sz="1600" dirty="0"/>
          </a:p>
        </p:txBody>
      </p:sp>
      <p:sp>
        <p:nvSpPr>
          <p:cNvPr id="12" name="card-126"/>
          <p:cNvSpPr/>
          <p:nvPr/>
        </p:nvSpPr>
        <p:spPr>
          <a:xfrm>
            <a:off x="9075191" y="1463040"/>
            <a:ext cx="2567864" cy="2286000"/>
          </a:xfrm>
          <a:prstGeom prst="roundRect">
            <a:avLst>
              <a:gd name="adj" fmla="val 4800"/>
            </a:avLst>
          </a:prstGeom>
          <a:solidFill>
            <a:schemeClr val="bg2"/>
          </a:solidFill>
          <a:ln/>
        </p:spPr>
      </p:sp>
      <p:sp>
        <p:nvSpPr>
          <p:cNvPr id="13" name="text-127"/>
          <p:cNvSpPr txBox="1"/>
          <p:nvPr/>
        </p:nvSpPr>
        <p:spPr>
          <a:xfrm>
            <a:off x="9349511" y="1737360"/>
            <a:ext cx="2019224" cy="100584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~6</a:t>
            </a:r>
            <a:endParaRPr lang="en-US" sz="5400" dirty="0"/>
          </a:p>
        </p:txBody>
      </p:sp>
      <p:sp>
        <p:nvSpPr>
          <p:cNvPr id="14" name="text-128"/>
          <p:cNvSpPr txBox="1"/>
          <p:nvPr/>
        </p:nvSpPr>
        <p:spPr>
          <a:xfrm>
            <a:off x="9349511" y="2788920"/>
            <a:ext cx="2019224" cy="7772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tokens per second on a 6 GB laptop GPU</a:t>
            </a:r>
            <a:endParaRPr lang="en-US" sz="1600" dirty="0"/>
          </a:p>
        </p:txBody>
      </p:sp>
      <p:sp>
        <p:nvSpPr>
          <p:cNvPr id="15" name="text-129"/>
          <p:cNvSpPr txBox="1"/>
          <p:nvPr/>
        </p:nvSpPr>
        <p:spPr>
          <a:xfrm>
            <a:off x="548640" y="4069080"/>
            <a:ext cx="365760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Also checked</a:t>
            </a:r>
            <a:endParaRPr lang="en-US" sz="1800" dirty="0"/>
          </a:p>
        </p:txBody>
      </p:sp>
      <p:sp>
        <p:nvSpPr>
          <p:cNvPr id="16" name="checks-130"/>
          <p:cNvSpPr txBox="1"/>
          <p:nvPr/>
        </p:nvSpPr>
        <p:spPr>
          <a:xfrm>
            <a:off x="548640" y="4480560"/>
            <a:ext cx="11094415"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Fresh npm install of @akindats/natlas returned an Igbo answer and a Hausa translation from the live server</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Requests without the API key are refused (HTTP 401); the usage log stores no message text</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Known limits, passed on honestly: Yoruba quality is lower (NCAIR's own evaluation: 2.69/5); about 8,000 tokens of context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Real-world validation with external developers</a:t>
            </a:r>
            <a:endParaRPr lang="en-US" sz="3200" dirty="0"/>
          </a:p>
        </p:txBody>
      </p:sp>
      <p:sp>
        <p:nvSpPr>
          <p:cNvPr id="3" name="marker-131"/>
          <p:cNvSpPr/>
          <p:nvPr/>
        </p:nvSpPr>
        <p:spPr>
          <a:xfrm>
            <a:off x="548640" y="1463040"/>
            <a:ext cx="502920" cy="502920"/>
          </a:xfrm>
          <a:prstGeom prst="ellipse">
            <a:avLst/>
          </a:prstGeom>
          <a:solidFill>
            <a:schemeClr val="tx2"/>
          </a:solidFill>
          <a:ln/>
        </p:spPr>
      </p:sp>
      <p:sp>
        <p:nvSpPr>
          <p:cNvPr id="4" name="text-132"/>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text-133"/>
          <p:cNvSpPr txBox="1"/>
          <p:nvPr/>
        </p:nvSpPr>
        <p:spPr>
          <a:xfrm>
            <a:off x="1188720" y="1303020"/>
            <a:ext cx="1783080" cy="8229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Try the playground</a:t>
            </a:r>
            <a:endParaRPr lang="en-US" sz="1600" dirty="0"/>
          </a:p>
        </p:txBody>
      </p:sp>
      <p:sp>
        <p:nvSpPr>
          <p:cNvPr id="6" name="arrow-134"/>
          <p:cNvSpPr/>
          <p:nvPr/>
        </p:nvSpPr>
        <p:spPr>
          <a:xfrm>
            <a:off x="3017520" y="1714500"/>
            <a:ext cx="330098" cy="0"/>
          </a:xfrm>
          <a:prstGeom prst="line">
            <a:avLst/>
          </a:prstGeom>
          <a:noFill/>
          <a:ln w="15875">
            <a:solidFill>
              <a:schemeClr val="accent5"/>
            </a:solidFill>
            <a:prstDash val="solid"/>
            <a:tailEnd type="triangle"/>
          </a:ln>
        </p:spPr>
      </p:sp>
      <p:sp>
        <p:nvSpPr>
          <p:cNvPr id="7" name="marker-135"/>
          <p:cNvSpPr/>
          <p:nvPr/>
        </p:nvSpPr>
        <p:spPr>
          <a:xfrm>
            <a:off x="3439058" y="1463040"/>
            <a:ext cx="502920" cy="502920"/>
          </a:xfrm>
          <a:prstGeom prst="ellipse">
            <a:avLst/>
          </a:prstGeom>
          <a:solidFill>
            <a:schemeClr val="tx2"/>
          </a:solidFill>
          <a:ln/>
        </p:spPr>
      </p:sp>
      <p:sp>
        <p:nvSpPr>
          <p:cNvPr id="8" name="text-136"/>
          <p:cNvSpPr txBox="1"/>
          <p:nvPr/>
        </p:nvSpPr>
        <p:spPr>
          <a:xfrm>
            <a:off x="3439058"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9" name="text-137"/>
          <p:cNvSpPr txBox="1"/>
          <p:nvPr/>
        </p:nvSpPr>
        <p:spPr>
          <a:xfrm>
            <a:off x="4079138" y="1303020"/>
            <a:ext cx="1783080" cy="8229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First request in a Nigerian language</a:t>
            </a:r>
            <a:endParaRPr lang="en-US" sz="1600" dirty="0"/>
          </a:p>
        </p:txBody>
      </p:sp>
      <p:sp>
        <p:nvSpPr>
          <p:cNvPr id="10" name="arrow-138"/>
          <p:cNvSpPr/>
          <p:nvPr/>
        </p:nvSpPr>
        <p:spPr>
          <a:xfrm>
            <a:off x="5907938" y="1714500"/>
            <a:ext cx="330098" cy="0"/>
          </a:xfrm>
          <a:prstGeom prst="line">
            <a:avLst/>
          </a:prstGeom>
          <a:noFill/>
          <a:ln w="15875">
            <a:solidFill>
              <a:schemeClr val="accent5"/>
            </a:solidFill>
            <a:prstDash val="solid"/>
            <a:tailEnd type="triangle"/>
          </a:ln>
        </p:spPr>
      </p:sp>
      <p:sp>
        <p:nvSpPr>
          <p:cNvPr id="11" name="marker-139"/>
          <p:cNvSpPr/>
          <p:nvPr/>
        </p:nvSpPr>
        <p:spPr>
          <a:xfrm>
            <a:off x="6329477" y="1463040"/>
            <a:ext cx="502920" cy="502920"/>
          </a:xfrm>
          <a:prstGeom prst="ellipse">
            <a:avLst/>
          </a:prstGeom>
          <a:solidFill>
            <a:schemeClr val="tx2"/>
          </a:solidFill>
          <a:ln/>
        </p:spPr>
      </p:sp>
      <p:sp>
        <p:nvSpPr>
          <p:cNvPr id="12" name="text-140"/>
          <p:cNvSpPr txBox="1"/>
          <p:nvPr/>
        </p:nvSpPr>
        <p:spPr>
          <a:xfrm>
            <a:off x="6329477"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text-141"/>
          <p:cNvSpPr txBox="1"/>
          <p:nvPr/>
        </p:nvSpPr>
        <p:spPr>
          <a:xfrm>
            <a:off x="6969557" y="1303020"/>
            <a:ext cx="1783080" cy="8229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SDK in their own script</a:t>
            </a:r>
            <a:endParaRPr lang="en-US" sz="1600" dirty="0"/>
          </a:p>
        </p:txBody>
      </p:sp>
      <p:sp>
        <p:nvSpPr>
          <p:cNvPr id="14" name="arrow-142"/>
          <p:cNvSpPr/>
          <p:nvPr/>
        </p:nvSpPr>
        <p:spPr>
          <a:xfrm>
            <a:off x="8798357" y="1714500"/>
            <a:ext cx="330098" cy="0"/>
          </a:xfrm>
          <a:prstGeom prst="line">
            <a:avLst/>
          </a:prstGeom>
          <a:noFill/>
          <a:ln w="15875">
            <a:solidFill>
              <a:schemeClr val="accent5"/>
            </a:solidFill>
            <a:prstDash val="solid"/>
            <a:tailEnd type="triangle"/>
          </a:ln>
        </p:spPr>
      </p:sp>
      <p:sp>
        <p:nvSpPr>
          <p:cNvPr id="15" name="marker-143"/>
          <p:cNvSpPr/>
          <p:nvPr/>
        </p:nvSpPr>
        <p:spPr>
          <a:xfrm>
            <a:off x="9219895" y="1463040"/>
            <a:ext cx="502920" cy="502920"/>
          </a:xfrm>
          <a:prstGeom prst="ellipse">
            <a:avLst/>
          </a:prstGeom>
          <a:solidFill>
            <a:schemeClr val="tx2"/>
          </a:solidFill>
          <a:ln/>
        </p:spPr>
      </p:sp>
      <p:sp>
        <p:nvSpPr>
          <p:cNvPr id="16" name="text-144"/>
          <p:cNvSpPr txBox="1"/>
          <p:nvPr/>
        </p:nvSpPr>
        <p:spPr>
          <a:xfrm>
            <a:off x="9219895"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7" name="text-145"/>
          <p:cNvSpPr txBox="1"/>
          <p:nvPr/>
        </p:nvSpPr>
        <p:spPr>
          <a:xfrm>
            <a:off x="9859975" y="1303020"/>
            <a:ext cx="1783080" cy="8229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Run the starter app</a:t>
            </a:r>
            <a:endParaRPr lang="en-US" sz="1600" dirty="0"/>
          </a:p>
        </p:txBody>
      </p:sp>
      <p:sp>
        <p:nvSpPr>
          <p:cNvPr id="18" name="text-146"/>
          <p:cNvSpPr txBox="1"/>
          <p:nvPr/>
        </p:nvSpPr>
        <p:spPr>
          <a:xfrm>
            <a:off x="548640" y="2514600"/>
            <a:ext cx="11094415" cy="41148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Each tester's requests are tagged with their name, so the server's anonymous usage log (/v1/stats) records real activity.</a:t>
            </a:r>
            <a:endParaRPr lang="en-US" sz="1500" dirty="0"/>
          </a:p>
        </p:txBody>
      </p:sp>
      <p:graphicFrame>
        <p:nvGraphicFramePr>
          <p:cNvPr id="10" name="table-147"/>
          <p:cNvGraphicFramePr>
            <a:graphicFrameLocks noGrp="1"/>
          </p:cNvGraphicFramePr>
          <p:nvPr>
            <p:extLst>
              <p:ext uri="{D42A27DB-BD31-4B8C-83A1-F6EECF244321}">
                <p14:modId xmlns:p14="http://schemas.microsoft.com/office/powerpoint/2010/main" val="1579011935"/>
              </p:ext>
            </p:extLst>
          </p:nvPr>
        </p:nvGraphicFramePr>
        <p:xfrm>
          <a:off x="548640" y="3154680"/>
          <a:ext cx="11094415" cy="914400"/>
        </p:xfrm>
        <a:graphic>
          <a:graphicData uri="http://schemas.openxmlformats.org/drawingml/2006/table">
            <a:tbl>
              <a:tblPr/>
              <a:tblGrid>
                <a:gridCol w="1097280"/>
                <a:gridCol w="3291840"/>
                <a:gridCol w="1645920"/>
                <a:gridCol w="2103120"/>
                <a:gridCol w="1371600"/>
                <a:gridCol w="1554480"/>
              </a:tblGrid>
              <a:tr h="502920">
                <a:tc>
                  <a:txBody>
                    <a:bodyPr/>
                    <a:lstStyle/>
                    <a:p>
                      <a:pPr indent="0" marL="0">
                        <a:buNone/>
                      </a:pPr>
                      <a:r>
                        <a:rPr lang="en-US" sz="1400" b="1" dirty="0">
                          <a:solidFill>
                            <a:schemeClr val="bg1"/>
                          </a:solidFill>
                        </a:rPr>
                        <a:t>Tester</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Role and organisation</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SDK used</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Minutes to first reply</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Ease (1–5)</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Would use it?</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accent5"/>
                          </a:solidFill>
                        </a:rPr>
                        <a:t>1</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accent5"/>
                          </a:solidFill>
                        </a:rPr>
                        <a:t>2</a:t>
                      </a: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c>
                  <a:txBody>
                    <a:bodyPr/>
                    <a:lstStyle/>
                    <a:p>
                      <a:pPr indent="0" marL="0">
                        <a:buNone/>
                      </a:pPr>
                      <a:endParaRPr lang="en-US" sz="1400" dirty="0"/>
                    </a:p>
                  </a:txBody>
                  <a:tcPr marL="137160" marR="137160" marT="54864" marB="54864"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chemeClr val="bg1"/>
                    </a:solidFill>
                  </a:tcPr>
                </a:tc>
              </a:tr>
            </a:tbl>
          </a:graphicData>
        </a:graphic>
      </p:graphicFrame>
      <p:sp>
        <p:nvSpPr>
          <p:cNvPr id="20" name="text-148"/>
          <p:cNvSpPr txBox="1"/>
          <p:nvPr/>
        </p:nvSpPr>
        <p:spPr>
          <a:xfrm>
            <a:off x="548640" y="4892040"/>
            <a:ext cx="11094415" cy="365760"/>
          </a:xfrm>
          <a:prstGeom prst="rect">
            <a:avLst/>
          </a:prstGeom>
          <a:noFill/>
          <a:ln/>
        </p:spPr>
        <p:txBody>
          <a:bodyPr wrap="square" lIns="0" tIns="0" rIns="0" bIns="0" rtlCol="0" anchor="t"/>
          <a:lstStyle/>
          <a:p>
            <a:pPr indent="0" marL="0">
              <a:buNone/>
            </a:pPr>
            <a:r>
              <a:rPr lang="en-US" sz="1400" i="1" dirty="0">
                <a:solidFill>
                  <a:schemeClr val="accent6"/>
                </a:solidFill>
                <a:latin typeface="Calibri" pitchFamily="34" charset="0"/>
                <a:ea typeface="Calibri" pitchFamily="34" charset="-122"/>
                <a:cs typeface="Calibri" pitchFamily="34" charset="-120"/>
              </a:rPr>
              <a:t>[Fill in from real tester feedback and /v1/stats before submitting]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From days of ML setup to minutes</a:t>
            </a:r>
            <a:endParaRPr lang="en-US" sz="3200" dirty="0"/>
          </a:p>
        </p:txBody>
      </p:sp>
      <p:sp>
        <p:nvSpPr>
          <p:cNvPr id="3" name="card-149"/>
          <p:cNvSpPr/>
          <p:nvPr/>
        </p:nvSpPr>
        <p:spPr>
          <a:xfrm>
            <a:off x="548640" y="1463040"/>
            <a:ext cx="5364328" cy="2011680"/>
          </a:xfrm>
          <a:prstGeom prst="roundRect">
            <a:avLst>
              <a:gd name="adj" fmla="val 5455"/>
            </a:avLst>
          </a:prstGeom>
          <a:solidFill>
            <a:schemeClr val="bg2"/>
          </a:solidFill>
          <a:ln/>
        </p:spPr>
      </p:sp>
      <p:sp>
        <p:nvSpPr>
          <p:cNvPr id="4" name="marker-150"/>
          <p:cNvSpPr/>
          <p:nvPr/>
        </p:nvSpPr>
        <p:spPr>
          <a:xfrm>
            <a:off x="868680" y="1783080"/>
            <a:ext cx="502920" cy="502920"/>
          </a:xfrm>
          <a:prstGeom prst="ellipse">
            <a:avLst/>
          </a:prstGeom>
          <a:solidFill>
            <a:schemeClr val="tx2"/>
          </a:solidFill>
          <a:ln/>
        </p:spPr>
      </p:sp>
      <p:sp>
        <p:nvSpPr>
          <p:cNvPr id="5" name="text-151"/>
          <p:cNvSpPr txBox="1"/>
          <p:nvPr/>
        </p:nvSpPr>
        <p:spPr>
          <a:xfrm>
            <a:off x="868680" y="17830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text-152"/>
          <p:cNvSpPr txBox="1"/>
          <p:nvPr/>
        </p:nvSpPr>
        <p:spPr>
          <a:xfrm>
            <a:off x="1554480" y="1810512"/>
            <a:ext cx="4084168" cy="4572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A larger developer base</a:t>
            </a:r>
            <a:endParaRPr lang="en-US" sz="1900" dirty="0"/>
          </a:p>
        </p:txBody>
      </p:sp>
      <p:sp>
        <p:nvSpPr>
          <p:cNvPr id="7" name="text-153"/>
          <p:cNvSpPr txBox="1"/>
          <p:nvPr/>
        </p:nvSpPr>
        <p:spPr>
          <a:xfrm>
            <a:off x="1554480" y="2331720"/>
            <a:ext cx="4084168"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Opens N-ATLAS to JavaScript and .NET developers, a far larger group in Nigeria than ML specialists.</a:t>
            </a:r>
            <a:endParaRPr lang="en-US" sz="1500" dirty="0"/>
          </a:p>
        </p:txBody>
      </p:sp>
      <p:sp>
        <p:nvSpPr>
          <p:cNvPr id="8" name="card-154"/>
          <p:cNvSpPr/>
          <p:nvPr/>
        </p:nvSpPr>
        <p:spPr>
          <a:xfrm>
            <a:off x="6278728" y="1463040"/>
            <a:ext cx="5364328" cy="2011680"/>
          </a:xfrm>
          <a:prstGeom prst="roundRect">
            <a:avLst>
              <a:gd name="adj" fmla="val 5455"/>
            </a:avLst>
          </a:prstGeom>
          <a:solidFill>
            <a:schemeClr val="bg2"/>
          </a:solidFill>
          <a:ln/>
        </p:spPr>
      </p:sp>
      <p:sp>
        <p:nvSpPr>
          <p:cNvPr id="9" name="marker-155"/>
          <p:cNvSpPr/>
          <p:nvPr/>
        </p:nvSpPr>
        <p:spPr>
          <a:xfrm>
            <a:off x="6598768" y="1783080"/>
            <a:ext cx="502920" cy="502920"/>
          </a:xfrm>
          <a:prstGeom prst="ellipse">
            <a:avLst/>
          </a:prstGeom>
          <a:solidFill>
            <a:schemeClr val="tx2"/>
          </a:solidFill>
          <a:ln/>
        </p:spPr>
      </p:sp>
      <p:sp>
        <p:nvSpPr>
          <p:cNvPr id="10" name="text-156"/>
          <p:cNvSpPr txBox="1"/>
          <p:nvPr/>
        </p:nvSpPr>
        <p:spPr>
          <a:xfrm>
            <a:off x="6598768" y="17830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157"/>
          <p:cNvSpPr txBox="1"/>
          <p:nvPr/>
        </p:nvSpPr>
        <p:spPr>
          <a:xfrm>
            <a:off x="7284568" y="1810512"/>
            <a:ext cx="4084168" cy="4572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No ML expertise needed</a:t>
            </a:r>
            <a:endParaRPr lang="en-US" sz="1900" dirty="0"/>
          </a:p>
        </p:txBody>
      </p:sp>
      <p:sp>
        <p:nvSpPr>
          <p:cNvPr id="12" name="text-158"/>
          <p:cNvSpPr txBox="1"/>
          <p:nvPr/>
        </p:nvSpPr>
        <p:spPr>
          <a:xfrm>
            <a:off x="7284568" y="2331720"/>
            <a:ext cx="4084168"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Startups, agencies and NGOs can prototype Nigerian-language support, civic and education services.</a:t>
            </a:r>
            <a:endParaRPr lang="en-US" sz="1500" dirty="0"/>
          </a:p>
        </p:txBody>
      </p:sp>
      <p:sp>
        <p:nvSpPr>
          <p:cNvPr id="13" name="card-159"/>
          <p:cNvSpPr/>
          <p:nvPr/>
        </p:nvSpPr>
        <p:spPr>
          <a:xfrm>
            <a:off x="548640" y="3794760"/>
            <a:ext cx="5364328" cy="2011680"/>
          </a:xfrm>
          <a:prstGeom prst="roundRect">
            <a:avLst>
              <a:gd name="adj" fmla="val 5455"/>
            </a:avLst>
          </a:prstGeom>
          <a:solidFill>
            <a:schemeClr val="bg2"/>
          </a:solidFill>
          <a:ln/>
        </p:spPr>
      </p:sp>
      <p:sp>
        <p:nvSpPr>
          <p:cNvPr id="14" name="marker-160"/>
          <p:cNvSpPr/>
          <p:nvPr/>
        </p:nvSpPr>
        <p:spPr>
          <a:xfrm>
            <a:off x="868680" y="4114800"/>
            <a:ext cx="502920" cy="502920"/>
          </a:xfrm>
          <a:prstGeom prst="ellipse">
            <a:avLst/>
          </a:prstGeom>
          <a:solidFill>
            <a:schemeClr val="tx2"/>
          </a:solidFill>
          <a:ln/>
        </p:spPr>
      </p:sp>
      <p:sp>
        <p:nvSpPr>
          <p:cNvPr id="15" name="text-161"/>
          <p:cNvSpPr txBox="1"/>
          <p:nvPr/>
        </p:nvSpPr>
        <p:spPr>
          <a:xfrm>
            <a:off x="868680" y="41148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6" name="text-162"/>
          <p:cNvSpPr txBox="1"/>
          <p:nvPr/>
        </p:nvSpPr>
        <p:spPr>
          <a:xfrm>
            <a:off x="1554480" y="4142232"/>
            <a:ext cx="4084168" cy="4572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Existing apps switch in one line</a:t>
            </a:r>
            <a:endParaRPr lang="en-US" sz="1900" dirty="0"/>
          </a:p>
        </p:txBody>
      </p:sp>
      <p:sp>
        <p:nvSpPr>
          <p:cNvPr id="17" name="text-163"/>
          <p:cNvSpPr txBox="1"/>
          <p:nvPr/>
        </p:nvSpPr>
        <p:spPr>
          <a:xfrm>
            <a:off x="1554480" y="4663440"/>
            <a:ext cx="4084168"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Any product built on the OpenAI API can try N-ATLAS by changing its base URL.</a:t>
            </a:r>
            <a:endParaRPr lang="en-US" sz="1500" dirty="0"/>
          </a:p>
        </p:txBody>
      </p:sp>
      <p:sp>
        <p:nvSpPr>
          <p:cNvPr id="18" name="card-164"/>
          <p:cNvSpPr/>
          <p:nvPr/>
        </p:nvSpPr>
        <p:spPr>
          <a:xfrm>
            <a:off x="6278728" y="3794760"/>
            <a:ext cx="5364328" cy="2011680"/>
          </a:xfrm>
          <a:prstGeom prst="roundRect">
            <a:avLst>
              <a:gd name="adj" fmla="val 5455"/>
            </a:avLst>
          </a:prstGeom>
          <a:solidFill>
            <a:schemeClr val="bg2"/>
          </a:solidFill>
          <a:ln/>
        </p:spPr>
      </p:sp>
      <p:sp>
        <p:nvSpPr>
          <p:cNvPr id="19" name="marker-165"/>
          <p:cNvSpPr/>
          <p:nvPr/>
        </p:nvSpPr>
        <p:spPr>
          <a:xfrm>
            <a:off x="6598768" y="4114800"/>
            <a:ext cx="502920" cy="502920"/>
          </a:xfrm>
          <a:prstGeom prst="ellipse">
            <a:avLst/>
          </a:prstGeom>
          <a:solidFill>
            <a:schemeClr val="tx2"/>
          </a:solidFill>
          <a:ln/>
        </p:spPr>
      </p:sp>
      <p:sp>
        <p:nvSpPr>
          <p:cNvPr id="20" name="text-166"/>
          <p:cNvSpPr txBox="1"/>
          <p:nvPr/>
        </p:nvSpPr>
        <p:spPr>
          <a:xfrm>
            <a:off x="6598768" y="41148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1" name="text-167"/>
          <p:cNvSpPr txBox="1"/>
          <p:nvPr/>
        </p:nvSpPr>
        <p:spPr>
          <a:xfrm>
            <a:off x="7284568" y="4142232"/>
            <a:ext cx="4084168" cy="4572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Enterprise and engineering software</a:t>
            </a:r>
            <a:endParaRPr lang="en-US" sz="1900" dirty="0"/>
          </a:p>
        </p:txBody>
      </p:sp>
      <p:sp>
        <p:nvSpPr>
          <p:cNvPr id="22" name="text-168"/>
          <p:cNvSpPr txBox="1"/>
          <p:nvPr/>
        </p:nvSpPr>
        <p:spPr>
          <a:xfrm>
            <a:off x="7284568" y="4663440"/>
            <a:ext cx="4084168"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.NET SDK reaches desktop and CAD tools used across Nigerian construction and engineering.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Built to scale, and to keep growing</a:t>
            </a:r>
            <a:endParaRPr lang="en-US" sz="3200" dirty="0"/>
          </a:p>
        </p:txBody>
      </p:sp>
      <p:sp>
        <p:nvSpPr>
          <p:cNvPr id="3" name="text-169"/>
          <p:cNvSpPr txBox="1"/>
          <p:nvPr/>
        </p:nvSpPr>
        <p:spPr>
          <a:xfrm>
            <a:off x="548640" y="1417320"/>
            <a:ext cx="5318608"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Scalability and sustainability</a:t>
            </a:r>
            <a:endParaRPr lang="en-US" sz="2000" dirty="0"/>
          </a:p>
        </p:txBody>
      </p:sp>
      <p:sp>
        <p:nvSpPr>
          <p:cNvPr id="4" name="marker-170"/>
          <p:cNvSpPr/>
          <p:nvPr/>
        </p:nvSpPr>
        <p:spPr>
          <a:xfrm>
            <a:off x="548640" y="2048256"/>
            <a:ext cx="384048" cy="384048"/>
          </a:xfrm>
          <a:prstGeom prst="ellipse">
            <a:avLst/>
          </a:prstGeom>
          <a:solidFill>
            <a:schemeClr val="tx2"/>
          </a:solidFill>
          <a:ln/>
        </p:spPr>
      </p:sp>
      <p:sp>
        <p:nvSpPr>
          <p:cNvPr id="5" name="text-171"/>
          <p:cNvSpPr txBox="1"/>
          <p:nvPr/>
        </p:nvSpPr>
        <p:spPr>
          <a:xfrm>
            <a:off x="548640" y="20482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text-172"/>
          <p:cNvSpPr txBox="1"/>
          <p:nvPr/>
        </p:nvSpPr>
        <p:spPr>
          <a:xfrm>
            <a:off x="1097280" y="2011680"/>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Stateless server</a:t>
            </a:r>
            <a:endParaRPr lang="en-US" sz="1600" dirty="0"/>
          </a:p>
        </p:txBody>
      </p:sp>
      <p:sp>
        <p:nvSpPr>
          <p:cNvPr id="7" name="text-173"/>
          <p:cNvSpPr txBox="1"/>
          <p:nvPr/>
        </p:nvSpPr>
        <p:spPr>
          <a:xfrm>
            <a:off x="1097280" y="2359152"/>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Add instances behind a load balancer for more users</a:t>
            </a:r>
            <a:endParaRPr lang="en-US" sz="1400" dirty="0"/>
          </a:p>
        </p:txBody>
      </p:sp>
      <p:sp>
        <p:nvSpPr>
          <p:cNvPr id="8" name="marker-174"/>
          <p:cNvSpPr/>
          <p:nvPr/>
        </p:nvSpPr>
        <p:spPr>
          <a:xfrm>
            <a:off x="548640" y="2889504"/>
            <a:ext cx="384048" cy="384048"/>
          </a:xfrm>
          <a:prstGeom prst="ellipse">
            <a:avLst/>
          </a:prstGeom>
          <a:solidFill>
            <a:schemeClr val="tx2"/>
          </a:solidFill>
          <a:ln/>
        </p:spPr>
      </p:sp>
      <p:sp>
        <p:nvSpPr>
          <p:cNvPr id="9" name="text-175"/>
          <p:cNvSpPr txBox="1"/>
          <p:nvPr/>
        </p:nvSpPr>
        <p:spPr>
          <a:xfrm>
            <a:off x="548640" y="28895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text-176"/>
          <p:cNvSpPr txBox="1"/>
          <p:nvPr/>
        </p:nvSpPr>
        <p:spPr>
          <a:xfrm>
            <a:off x="1097280" y="2852928"/>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Runs anywhere</a:t>
            </a:r>
            <a:endParaRPr lang="en-US" sz="1600" dirty="0"/>
          </a:p>
        </p:txBody>
      </p:sp>
      <p:sp>
        <p:nvSpPr>
          <p:cNvPr id="11" name="text-177"/>
          <p:cNvSpPr txBox="1"/>
          <p:nvPr/>
        </p:nvSpPr>
        <p:spPr>
          <a:xfrm>
            <a:off x="1097280" y="3200400"/>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Laptop, Docker, free Colab or GPU cloud</a:t>
            </a:r>
            <a:endParaRPr lang="en-US" sz="1400" dirty="0"/>
          </a:p>
        </p:txBody>
      </p:sp>
      <p:sp>
        <p:nvSpPr>
          <p:cNvPr id="12" name="marker-178"/>
          <p:cNvSpPr/>
          <p:nvPr/>
        </p:nvSpPr>
        <p:spPr>
          <a:xfrm>
            <a:off x="548640" y="3730752"/>
            <a:ext cx="384048" cy="384048"/>
          </a:xfrm>
          <a:prstGeom prst="ellipse">
            <a:avLst/>
          </a:prstGeom>
          <a:solidFill>
            <a:schemeClr val="tx2"/>
          </a:solidFill>
          <a:ln/>
        </p:spPr>
      </p:sp>
      <p:sp>
        <p:nvSpPr>
          <p:cNvPr id="13" name="text-179"/>
          <p:cNvSpPr txBox="1"/>
          <p:nvPr/>
        </p:nvSpPr>
        <p:spPr>
          <a:xfrm>
            <a:off x="548640" y="3730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4" name="text-180"/>
          <p:cNvSpPr txBox="1"/>
          <p:nvPr/>
        </p:nvSpPr>
        <p:spPr>
          <a:xfrm>
            <a:off x="1097280" y="3694176"/>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Open source</a:t>
            </a:r>
            <a:endParaRPr lang="en-US" sz="1600" dirty="0"/>
          </a:p>
        </p:txBody>
      </p:sp>
      <p:sp>
        <p:nvSpPr>
          <p:cNvPr id="15" name="text-181"/>
          <p:cNvSpPr txBox="1"/>
          <p:nvPr/>
        </p:nvSpPr>
        <p:spPr>
          <a:xfrm>
            <a:off x="1097280" y="4041648"/>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MIT licence, public on GitHub, SDK on npm</a:t>
            </a:r>
            <a:endParaRPr lang="en-US" sz="1400" dirty="0"/>
          </a:p>
        </p:txBody>
      </p:sp>
      <p:sp>
        <p:nvSpPr>
          <p:cNvPr id="16" name="marker-182"/>
          <p:cNvSpPr/>
          <p:nvPr/>
        </p:nvSpPr>
        <p:spPr>
          <a:xfrm>
            <a:off x="548640" y="4572000"/>
            <a:ext cx="384048" cy="384048"/>
          </a:xfrm>
          <a:prstGeom prst="ellipse">
            <a:avLst/>
          </a:prstGeom>
          <a:solidFill>
            <a:schemeClr val="tx2"/>
          </a:solidFill>
          <a:ln/>
        </p:spPr>
      </p:sp>
      <p:sp>
        <p:nvSpPr>
          <p:cNvPr id="17" name="text-183"/>
          <p:cNvSpPr txBox="1"/>
          <p:nvPr/>
        </p:nvSpPr>
        <p:spPr>
          <a:xfrm>
            <a:off x="548640" y="4572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8" name="text-184"/>
          <p:cNvSpPr txBox="1"/>
          <p:nvPr/>
        </p:nvSpPr>
        <p:spPr>
          <a:xfrm>
            <a:off x="1097280" y="4535424"/>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Low cost</a:t>
            </a:r>
            <a:endParaRPr lang="en-US" sz="1600" dirty="0"/>
          </a:p>
        </p:txBody>
      </p:sp>
      <p:sp>
        <p:nvSpPr>
          <p:cNvPr id="19" name="text-185"/>
          <p:cNvSpPr txBox="1"/>
          <p:nvPr/>
        </p:nvSpPr>
        <p:spPr>
          <a:xfrm>
            <a:off x="1097280" y="4882896"/>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default model runs on a 6 GB consumer GPU</a:t>
            </a:r>
            <a:endParaRPr lang="en-US" sz="1400" dirty="0"/>
          </a:p>
        </p:txBody>
      </p:sp>
      <p:sp>
        <p:nvSpPr>
          <p:cNvPr id="20" name="marker-186"/>
          <p:cNvSpPr/>
          <p:nvPr/>
        </p:nvSpPr>
        <p:spPr>
          <a:xfrm>
            <a:off x="548640" y="5413248"/>
            <a:ext cx="384048" cy="384048"/>
          </a:xfrm>
          <a:prstGeom prst="ellipse">
            <a:avLst/>
          </a:prstGeom>
          <a:solidFill>
            <a:schemeClr val="tx2"/>
          </a:solidFill>
          <a:ln/>
        </p:spPr>
      </p:sp>
      <p:sp>
        <p:nvSpPr>
          <p:cNvPr id="21" name="text-187"/>
          <p:cNvSpPr txBox="1"/>
          <p:nvPr/>
        </p:nvSpPr>
        <p:spPr>
          <a:xfrm>
            <a:off x="548640" y="5413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2" name="text-188"/>
          <p:cNvSpPr txBox="1"/>
          <p:nvPr/>
        </p:nvSpPr>
        <p:spPr>
          <a:xfrm>
            <a:off x="1097280" y="5376672"/>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Sustained by Peachel</a:t>
            </a:r>
            <a:endParaRPr lang="en-US" sz="1600" dirty="0"/>
          </a:p>
        </p:txBody>
      </p:sp>
      <p:sp>
        <p:nvSpPr>
          <p:cNvPr id="23" name="text-189"/>
          <p:cNvSpPr txBox="1"/>
          <p:nvPr/>
        </p:nvSpPr>
        <p:spPr>
          <a:xfrm>
            <a:off x="1097280" y="5724144"/>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Paid integration and deployment support, within N-ATLaS terms</a:t>
            </a:r>
            <a:endParaRPr lang="en-US" sz="1400" dirty="0"/>
          </a:p>
        </p:txBody>
      </p:sp>
      <p:sp>
        <p:nvSpPr>
          <p:cNvPr id="24" name="text-190"/>
          <p:cNvSpPr txBox="1"/>
          <p:nvPr/>
        </p:nvSpPr>
        <p:spPr>
          <a:xfrm>
            <a:off x="6324448" y="1417320"/>
            <a:ext cx="5318608"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Roadmap</a:t>
            </a:r>
            <a:endParaRPr lang="en-US" sz="2000" dirty="0"/>
          </a:p>
        </p:txBody>
      </p:sp>
      <p:sp>
        <p:nvSpPr>
          <p:cNvPr id="25" name="marker-191"/>
          <p:cNvSpPr/>
          <p:nvPr/>
        </p:nvSpPr>
        <p:spPr>
          <a:xfrm>
            <a:off x="6324448" y="2048256"/>
            <a:ext cx="384048" cy="384048"/>
          </a:xfrm>
          <a:prstGeom prst="ellipse">
            <a:avLst/>
          </a:prstGeom>
          <a:solidFill>
            <a:schemeClr val="accent2"/>
          </a:solidFill>
          <a:ln/>
        </p:spPr>
      </p:sp>
      <p:sp>
        <p:nvSpPr>
          <p:cNvPr id="26" name="text-192"/>
          <p:cNvSpPr txBox="1"/>
          <p:nvPr/>
        </p:nvSpPr>
        <p:spPr>
          <a:xfrm>
            <a:off x="6324448" y="20482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7" name="text-193"/>
          <p:cNvSpPr txBox="1"/>
          <p:nvPr/>
        </p:nvSpPr>
        <p:spPr>
          <a:xfrm>
            <a:off x="6873088" y="2011680"/>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Speech</a:t>
            </a:r>
            <a:endParaRPr lang="en-US" sz="1600" dirty="0"/>
          </a:p>
        </p:txBody>
      </p:sp>
      <p:sp>
        <p:nvSpPr>
          <p:cNvPr id="28" name="text-194"/>
          <p:cNvSpPr txBox="1"/>
          <p:nvPr/>
        </p:nvSpPr>
        <p:spPr>
          <a:xfrm>
            <a:off x="6873088" y="2359152"/>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N-ATLAS ASR endpoints for voice-first apps</a:t>
            </a:r>
            <a:endParaRPr lang="en-US" sz="1400" dirty="0"/>
          </a:p>
        </p:txBody>
      </p:sp>
      <p:sp>
        <p:nvSpPr>
          <p:cNvPr id="29" name="marker-195"/>
          <p:cNvSpPr/>
          <p:nvPr/>
        </p:nvSpPr>
        <p:spPr>
          <a:xfrm>
            <a:off x="6324448" y="2889504"/>
            <a:ext cx="384048" cy="384048"/>
          </a:xfrm>
          <a:prstGeom prst="ellipse">
            <a:avLst/>
          </a:prstGeom>
          <a:solidFill>
            <a:schemeClr val="tx2"/>
          </a:solidFill>
          <a:ln/>
        </p:spPr>
      </p:sp>
      <p:sp>
        <p:nvSpPr>
          <p:cNvPr id="30" name="text-196"/>
          <p:cNvSpPr txBox="1"/>
          <p:nvPr/>
        </p:nvSpPr>
        <p:spPr>
          <a:xfrm>
            <a:off x="6324448" y="28895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31" name="text-197"/>
          <p:cNvSpPr txBox="1"/>
          <p:nvPr/>
        </p:nvSpPr>
        <p:spPr>
          <a:xfrm>
            <a:off x="6873088" y="2852928"/>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More SDKs</a:t>
            </a:r>
            <a:endParaRPr lang="en-US" sz="1600" dirty="0"/>
          </a:p>
        </p:txBody>
      </p:sp>
      <p:sp>
        <p:nvSpPr>
          <p:cNvPr id="32" name="text-198"/>
          <p:cNvSpPr txBox="1"/>
          <p:nvPr/>
        </p:nvSpPr>
        <p:spPr>
          <a:xfrm>
            <a:off x="6873088" y="3200400"/>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Python SDK and a NuGet release of the .NET SDK</a:t>
            </a:r>
            <a:endParaRPr lang="en-US" sz="1400" dirty="0"/>
          </a:p>
        </p:txBody>
      </p:sp>
      <p:sp>
        <p:nvSpPr>
          <p:cNvPr id="33" name="marker-199"/>
          <p:cNvSpPr/>
          <p:nvPr/>
        </p:nvSpPr>
        <p:spPr>
          <a:xfrm>
            <a:off x="6324448" y="3730752"/>
            <a:ext cx="384048" cy="384048"/>
          </a:xfrm>
          <a:prstGeom prst="ellipse">
            <a:avLst/>
          </a:prstGeom>
          <a:solidFill>
            <a:schemeClr val="tx2"/>
          </a:solidFill>
          <a:ln/>
        </p:spPr>
      </p:sp>
      <p:sp>
        <p:nvSpPr>
          <p:cNvPr id="34" name="text-200"/>
          <p:cNvSpPr txBox="1"/>
          <p:nvPr/>
        </p:nvSpPr>
        <p:spPr>
          <a:xfrm>
            <a:off x="6324448" y="3730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35" name="text-201"/>
          <p:cNvSpPr txBox="1"/>
          <p:nvPr/>
        </p:nvSpPr>
        <p:spPr>
          <a:xfrm>
            <a:off x="6873088" y="3694176"/>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Hosted endpoint</a:t>
            </a:r>
            <a:endParaRPr lang="en-US" sz="1600" dirty="0"/>
          </a:p>
        </p:txBody>
      </p:sp>
      <p:sp>
        <p:nvSpPr>
          <p:cNvPr id="36" name="text-202"/>
          <p:cNvSpPr txBox="1"/>
          <p:nvPr/>
        </p:nvSpPr>
        <p:spPr>
          <a:xfrm>
            <a:off x="6873088" y="4041648"/>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No setup at all for developers</a:t>
            </a:r>
            <a:endParaRPr lang="en-US" sz="1400" dirty="0"/>
          </a:p>
        </p:txBody>
      </p:sp>
      <p:sp>
        <p:nvSpPr>
          <p:cNvPr id="37" name="marker-203"/>
          <p:cNvSpPr/>
          <p:nvPr/>
        </p:nvSpPr>
        <p:spPr>
          <a:xfrm>
            <a:off x="6324448" y="4572000"/>
            <a:ext cx="384048" cy="384048"/>
          </a:xfrm>
          <a:prstGeom prst="ellipse">
            <a:avLst/>
          </a:prstGeom>
          <a:solidFill>
            <a:schemeClr val="tx2"/>
          </a:solidFill>
          <a:ln/>
        </p:spPr>
      </p:sp>
      <p:sp>
        <p:nvSpPr>
          <p:cNvPr id="38" name="text-204"/>
          <p:cNvSpPr txBox="1"/>
          <p:nvPr/>
        </p:nvSpPr>
        <p:spPr>
          <a:xfrm>
            <a:off x="6324448" y="4572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39" name="text-205"/>
          <p:cNvSpPr txBox="1"/>
          <p:nvPr/>
        </p:nvSpPr>
        <p:spPr>
          <a:xfrm>
            <a:off x="6873088" y="4535424"/>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Framework adapters</a:t>
            </a:r>
            <a:endParaRPr lang="en-US" sz="1600" dirty="0"/>
          </a:p>
        </p:txBody>
      </p:sp>
      <p:sp>
        <p:nvSpPr>
          <p:cNvPr id="40" name="text-206"/>
          <p:cNvSpPr txBox="1"/>
          <p:nvPr/>
        </p:nvSpPr>
        <p:spPr>
          <a:xfrm>
            <a:off x="6873088" y="4882896"/>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LangChain and the Vercel AI SDK</a:t>
            </a:r>
            <a:endParaRPr lang="en-US" sz="1400" dirty="0"/>
          </a:p>
        </p:txBody>
      </p:sp>
      <p:sp>
        <p:nvSpPr>
          <p:cNvPr id="41" name="marker-207"/>
          <p:cNvSpPr/>
          <p:nvPr/>
        </p:nvSpPr>
        <p:spPr>
          <a:xfrm>
            <a:off x="6324448" y="5413248"/>
            <a:ext cx="384048" cy="384048"/>
          </a:xfrm>
          <a:prstGeom prst="ellipse">
            <a:avLst/>
          </a:prstGeom>
          <a:solidFill>
            <a:schemeClr val="tx2"/>
          </a:solidFill>
          <a:ln/>
        </p:spPr>
      </p:sp>
      <p:sp>
        <p:nvSpPr>
          <p:cNvPr id="42" name="text-208"/>
          <p:cNvSpPr txBox="1"/>
          <p:nvPr/>
        </p:nvSpPr>
        <p:spPr>
          <a:xfrm>
            <a:off x="6324448" y="5413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43" name="text-209"/>
          <p:cNvSpPr txBox="1"/>
          <p:nvPr/>
        </p:nvSpPr>
        <p:spPr>
          <a:xfrm>
            <a:off x="6873088" y="5376672"/>
            <a:ext cx="4769968"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Evaluation dashboard</a:t>
            </a:r>
            <a:endParaRPr lang="en-US" sz="1600" dirty="0"/>
          </a:p>
        </p:txBody>
      </p:sp>
      <p:sp>
        <p:nvSpPr>
          <p:cNvPr id="44" name="text-210"/>
          <p:cNvSpPr txBox="1"/>
          <p:nvPr/>
        </p:nvSpPr>
        <p:spPr>
          <a:xfrm>
            <a:off x="6873088" y="5724144"/>
            <a:ext cx="4769968"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Per-language quality tracking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Responsible by default</a:t>
            </a:r>
            <a:endParaRPr lang="en-US" sz="3200" dirty="0"/>
          </a:p>
        </p:txBody>
      </p:sp>
      <p:sp>
        <p:nvSpPr>
          <p:cNvPr id="3" name="text-211"/>
          <p:cNvSpPr txBox="1"/>
          <p:nvPr/>
        </p:nvSpPr>
        <p:spPr>
          <a:xfrm>
            <a:off x="548640" y="1371600"/>
            <a:ext cx="11094415"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kit's code is MIT-licensed. The model stays under the N-ATLaS Terms of Use, which the kit passes on to every developer: free for research, education, civic and community use, up to 1,000 active users without a commercial licence.</a:t>
            </a:r>
            <a:endParaRPr lang="en-US" sz="1600" dirty="0"/>
          </a:p>
        </p:txBody>
      </p:sp>
      <p:sp>
        <p:nvSpPr>
          <p:cNvPr id="4" name="card-212"/>
          <p:cNvSpPr/>
          <p:nvPr/>
        </p:nvSpPr>
        <p:spPr>
          <a:xfrm>
            <a:off x="548640" y="2514600"/>
            <a:ext cx="5364328" cy="2788920"/>
          </a:xfrm>
          <a:prstGeom prst="roundRect">
            <a:avLst>
              <a:gd name="adj" fmla="val 3934"/>
            </a:avLst>
          </a:prstGeom>
          <a:solidFill>
            <a:schemeClr val="bg2"/>
          </a:solidFill>
          <a:ln/>
        </p:spPr>
      </p:sp>
      <p:sp>
        <p:nvSpPr>
          <p:cNvPr id="5" name="text-213"/>
          <p:cNvSpPr txBox="1"/>
          <p:nvPr/>
        </p:nvSpPr>
        <p:spPr>
          <a:xfrm>
            <a:off x="868680" y="2697480"/>
            <a:ext cx="4724248" cy="411480"/>
          </a:xfrm>
          <a:prstGeom prst="rect">
            <a:avLst/>
          </a:prstGeom>
          <a:noFill/>
          <a:ln/>
        </p:spPr>
        <p:txBody>
          <a:bodyPr wrap="square" lIns="0" tIns="0" rIns="0" bIns="0" rtlCol="0" anchor="t"/>
          <a:lstStyle/>
          <a:p>
            <a:pPr indent="0" marL="0">
              <a:buNone/>
            </a:pPr>
            <a:r>
              <a:rPr lang="en-US" sz="1800" b="1" dirty="0">
                <a:solidFill>
                  <a:schemeClr val="accent3"/>
                </a:solidFill>
                <a:latin typeface="Calibri" pitchFamily="34" charset="0"/>
                <a:ea typeface="Calibri" pitchFamily="34" charset="-122"/>
                <a:cs typeface="Calibri" pitchFamily="34" charset="-120"/>
              </a:rPr>
              <a:t>Permitted uses</a:t>
            </a:r>
            <a:endParaRPr lang="en-US" sz="1800" dirty="0"/>
          </a:p>
        </p:txBody>
      </p:sp>
      <p:sp>
        <p:nvSpPr>
          <p:cNvPr id="6" name="list-214"/>
          <p:cNvSpPr txBox="1"/>
          <p:nvPr/>
        </p:nvSpPr>
        <p:spPr>
          <a:xfrm>
            <a:off x="868680" y="3200400"/>
            <a:ext cx="4724248"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Academic and non-profit research</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Accessibility for persons with disabilities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Language and cultural preservation</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Civic technology and public-benefit apps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Education, training and community innovation</a:t>
            </a:r>
            <a:endParaRPr lang="en-US" sz="1500" dirty="0"/>
          </a:p>
        </p:txBody>
      </p:sp>
      <p:sp>
        <p:nvSpPr>
          <p:cNvPr id="7" name="card-215"/>
          <p:cNvSpPr/>
          <p:nvPr/>
        </p:nvSpPr>
        <p:spPr>
          <a:xfrm>
            <a:off x="6278728" y="2514600"/>
            <a:ext cx="5364328" cy="2788920"/>
          </a:xfrm>
          <a:prstGeom prst="roundRect">
            <a:avLst>
              <a:gd name="adj" fmla="val 3934"/>
            </a:avLst>
          </a:prstGeom>
          <a:solidFill>
            <a:schemeClr val="bg2"/>
          </a:solidFill>
          <a:ln/>
        </p:spPr>
      </p:sp>
      <p:sp>
        <p:nvSpPr>
          <p:cNvPr id="8" name="text-216"/>
          <p:cNvSpPr txBox="1"/>
          <p:nvPr/>
        </p:nvSpPr>
        <p:spPr>
          <a:xfrm>
            <a:off x="6598768" y="2697480"/>
            <a:ext cx="4724248" cy="411480"/>
          </a:xfrm>
          <a:prstGeom prst="rect">
            <a:avLst/>
          </a:prstGeom>
          <a:noFill/>
          <a:ln/>
        </p:spPr>
        <p:txBody>
          <a:bodyPr wrap="square" lIns="0" tIns="0" rIns="0" bIns="0" rtlCol="0" anchor="t"/>
          <a:lstStyle/>
          <a:p>
            <a:pPr indent="0" marL="0">
              <a:buNone/>
            </a:pPr>
            <a:r>
              <a:rPr lang="en-US" sz="1800" b="1" dirty="0">
                <a:solidFill>
                  <a:schemeClr val="accent6"/>
                </a:solidFill>
                <a:latin typeface="Calibri" pitchFamily="34" charset="0"/>
                <a:ea typeface="Calibri" pitchFamily="34" charset="-122"/>
                <a:cs typeface="Calibri" pitchFamily="34" charset="-120"/>
              </a:rPr>
              <a:t>Prohibited uses</a:t>
            </a:r>
            <a:endParaRPr lang="en-US" sz="1800" dirty="0"/>
          </a:p>
        </p:txBody>
      </p:sp>
      <p:sp>
        <p:nvSpPr>
          <p:cNvPr id="9" name="list-217"/>
          <p:cNvSpPr txBox="1"/>
          <p:nvPr/>
        </p:nvSpPr>
        <p:spPr>
          <a:xfrm>
            <a:off x="6598768" y="3200400"/>
            <a:ext cx="4724248"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Surveillance or unlawful monitoring</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Discriminatory profiling or exclusion</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Disinformation, impersonation or synthetic fraud</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Military, intelligence or weaponised deployment</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Exploitative, harmful or unlawful applications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Team</a:t>
            </a:r>
            <a:endParaRPr lang="en-US" sz="3200" dirty="0"/>
          </a:p>
        </p:txBody>
      </p:sp>
      <p:sp>
        <p:nvSpPr>
          <p:cNvPr id="3" name="card-218"/>
          <p:cNvSpPr/>
          <p:nvPr/>
        </p:nvSpPr>
        <p:spPr>
          <a:xfrm>
            <a:off x="548640" y="1463040"/>
            <a:ext cx="5364328" cy="3840480"/>
          </a:xfrm>
          <a:prstGeom prst="roundRect">
            <a:avLst>
              <a:gd name="adj" fmla="val 2857"/>
            </a:avLst>
          </a:prstGeom>
          <a:solidFill>
            <a:schemeClr val="bg2"/>
          </a:solidFill>
          <a:ln/>
        </p:spPr>
      </p:sp>
      <p:sp>
        <p:nvSpPr>
          <p:cNvPr id="4" name="adire-219"/>
          <p:cNvSpPr/>
          <p:nvPr/>
        </p:nvSpPr>
        <p:spPr>
          <a:xfrm>
            <a:off x="914400" y="1783080"/>
            <a:ext cx="1005840" cy="1005840"/>
          </a:xfrm>
          <a:prstGeom prst="ellipse">
            <a:avLst/>
          </a:prstGeom>
          <a:ln w="19050">
            <a:solidFill>
              <a:schemeClr val="tx2"/>
            </a:solidFill>
            <a:prstDash val="solid"/>
          </a:ln>
        </p:spPr>
      </p:sp>
      <p:sp>
        <p:nvSpPr>
          <p:cNvPr id="5" name="adire-220"/>
          <p:cNvSpPr/>
          <p:nvPr/>
        </p:nvSpPr>
        <p:spPr>
          <a:xfrm>
            <a:off x="1075334" y="1944014"/>
            <a:ext cx="683971" cy="683971"/>
          </a:xfrm>
          <a:prstGeom prst="ellipse">
            <a:avLst/>
          </a:prstGeom>
          <a:ln w="19050">
            <a:solidFill>
              <a:schemeClr val="tx2">
                <a:alpha val="90000"/>
              </a:schemeClr>
            </a:solidFill>
            <a:prstDash val="solid"/>
          </a:ln>
        </p:spPr>
      </p:sp>
      <p:sp>
        <p:nvSpPr>
          <p:cNvPr id="6" name="adire-221"/>
          <p:cNvSpPr/>
          <p:nvPr/>
        </p:nvSpPr>
        <p:spPr>
          <a:xfrm>
            <a:off x="1236269" y="2104949"/>
            <a:ext cx="362102" cy="362102"/>
          </a:xfrm>
          <a:prstGeom prst="ellipse">
            <a:avLst/>
          </a:prstGeom>
          <a:ln w="19050">
            <a:solidFill>
              <a:schemeClr val="tx2">
                <a:alpha val="80000"/>
              </a:schemeClr>
            </a:solidFill>
            <a:prstDash val="solid"/>
          </a:ln>
        </p:spPr>
      </p:sp>
      <p:sp>
        <p:nvSpPr>
          <p:cNvPr id="7" name="adire-dot-222"/>
          <p:cNvSpPr/>
          <p:nvPr/>
        </p:nvSpPr>
        <p:spPr>
          <a:xfrm>
            <a:off x="1367028" y="2235708"/>
            <a:ext cx="100584" cy="100584"/>
          </a:xfrm>
          <a:prstGeom prst="ellipse">
            <a:avLst/>
          </a:prstGeom>
          <a:solidFill>
            <a:schemeClr val="accent2"/>
          </a:solidFill>
          <a:ln/>
        </p:spPr>
      </p:sp>
      <p:sp>
        <p:nvSpPr>
          <p:cNvPr id="8" name="text-223"/>
          <p:cNvSpPr txBox="1"/>
          <p:nvPr/>
        </p:nvSpPr>
        <p:spPr>
          <a:xfrm>
            <a:off x="2194560" y="1828800"/>
            <a:ext cx="3444088" cy="8229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Abdulrasheed Akinbola Bello (Akindats)</a:t>
            </a:r>
            <a:endParaRPr lang="en-US" sz="2000" dirty="0"/>
          </a:p>
        </p:txBody>
      </p:sp>
      <p:sp>
        <p:nvSpPr>
          <p:cNvPr id="9" name="text-224"/>
          <p:cNvSpPr txBox="1"/>
          <p:nvPr/>
        </p:nvSpPr>
        <p:spPr>
          <a:xfrm>
            <a:off x="914400" y="2971800"/>
            <a:ext cx="4632808"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CTO, Peachel Innovations Limited · lead developer</a:t>
            </a:r>
            <a:endParaRPr lang="en-US" sz="1600" dirty="0"/>
          </a:p>
        </p:txBody>
      </p:sp>
      <p:sp>
        <p:nvSpPr>
          <p:cNvPr id="10" name="text-225"/>
          <p:cNvSpPr txBox="1"/>
          <p:nvPr/>
        </p:nvSpPr>
        <p:spPr>
          <a:xfrm>
            <a:off x="914400" y="3474720"/>
            <a:ext cx="4632808"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Software developer in C#/.NET, Next.js and TypeScript. Builds commercial Autodesk Revit, AutoCAD and Civil 3D plugins; technical lead for ConTech Nigeria.</a:t>
            </a:r>
            <a:endParaRPr lang="en-US" sz="1500" dirty="0"/>
          </a:p>
        </p:txBody>
      </p:sp>
      <p:sp>
        <p:nvSpPr>
          <p:cNvPr id="11" name="placeholder-card-226"/>
          <p:cNvSpPr/>
          <p:nvPr/>
        </p:nvSpPr>
        <p:spPr>
          <a:xfrm>
            <a:off x="6278728" y="1463040"/>
            <a:ext cx="5364328" cy="3840480"/>
          </a:xfrm>
          <a:prstGeom prst="roundRect">
            <a:avLst>
              <a:gd name="adj" fmla="val 2857"/>
            </a:avLst>
          </a:prstGeom>
          <a:solidFill>
            <a:schemeClr val="bg1"/>
          </a:solidFill>
          <a:ln w="12700">
            <a:solidFill>
              <a:schemeClr val="accent5"/>
            </a:solidFill>
            <a:prstDash val="dash"/>
          </a:ln>
        </p:spPr>
      </p:sp>
      <p:sp>
        <p:nvSpPr>
          <p:cNvPr id="12" name="text-227"/>
          <p:cNvSpPr txBox="1"/>
          <p:nvPr/>
        </p:nvSpPr>
        <p:spPr>
          <a:xfrm>
            <a:off x="6644488" y="3108960"/>
            <a:ext cx="4632808" cy="548640"/>
          </a:xfrm>
          <a:prstGeom prst="rect">
            <a:avLst/>
          </a:prstGeom>
          <a:noFill/>
          <a:ln/>
        </p:spPr>
        <p:txBody>
          <a:bodyPr wrap="square" lIns="0" tIns="0" rIns="0" bIns="0" rtlCol="0" anchor="t"/>
          <a:lstStyle/>
          <a:p>
            <a:pPr algn="ctr" indent="0" marL="0">
              <a:buNone/>
            </a:pPr>
            <a:r>
              <a:rPr lang="en-US" sz="1800" i="1" dirty="0">
                <a:solidFill>
                  <a:schemeClr val="accent6"/>
                </a:solidFill>
                <a:latin typeface="Calibri" pitchFamily="34" charset="0"/>
                <a:ea typeface="Calibri" pitchFamily="34" charset="-122"/>
                <a:cs typeface="Calibri" pitchFamily="34" charset="-120"/>
              </a:rPr>
              <a:t>[Teammate: name, role and background]</a:t>
            </a:r>
            <a:endParaRPr lang="en-US" sz="1800" dirty="0"/>
          </a:p>
        </p:txBody>
      </p:sp>
      <p:sp>
        <p:nvSpPr>
          <p:cNvPr id="13" name="text-228"/>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Innovation &amp; Enterprise track requires 2 to 5 team members.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adire-229"/>
          <p:cNvSpPr/>
          <p:nvPr/>
        </p:nvSpPr>
        <p:spPr>
          <a:xfrm>
            <a:off x="7132320" y="1051560"/>
            <a:ext cx="4754880" cy="4754880"/>
          </a:xfrm>
          <a:prstGeom prst="ellipse">
            <a:avLst/>
          </a:prstGeom>
          <a:ln w="19050">
            <a:solidFill>
              <a:schemeClr val="bg2">
                <a:alpha val="45000"/>
              </a:schemeClr>
            </a:solidFill>
            <a:prstDash val="solid"/>
          </a:ln>
        </p:spPr>
      </p:sp>
      <p:sp>
        <p:nvSpPr>
          <p:cNvPr id="3" name="adire-230"/>
          <p:cNvSpPr/>
          <p:nvPr/>
        </p:nvSpPr>
        <p:spPr>
          <a:xfrm>
            <a:off x="7893101" y="1812341"/>
            <a:ext cx="3233318" cy="3233318"/>
          </a:xfrm>
          <a:prstGeom prst="ellipse">
            <a:avLst/>
          </a:prstGeom>
          <a:ln w="19050">
            <a:solidFill>
              <a:schemeClr val="bg2">
                <a:alpha val="35000"/>
              </a:schemeClr>
            </a:solidFill>
            <a:prstDash val="solid"/>
          </a:ln>
        </p:spPr>
      </p:sp>
      <p:sp>
        <p:nvSpPr>
          <p:cNvPr id="4" name="adire-231"/>
          <p:cNvSpPr/>
          <p:nvPr/>
        </p:nvSpPr>
        <p:spPr>
          <a:xfrm>
            <a:off x="8653882" y="2573122"/>
            <a:ext cx="1711757" cy="1711757"/>
          </a:xfrm>
          <a:prstGeom prst="ellipse">
            <a:avLst/>
          </a:prstGeom>
          <a:ln w="19050">
            <a:solidFill>
              <a:schemeClr val="bg2">
                <a:alpha val="25000"/>
              </a:schemeClr>
            </a:solidFill>
            <a:prstDash val="solid"/>
          </a:ln>
        </p:spPr>
      </p:sp>
      <p:sp>
        <p:nvSpPr>
          <p:cNvPr id="5" name="adire-dot-232"/>
          <p:cNvSpPr/>
          <p:nvPr/>
        </p:nvSpPr>
        <p:spPr>
          <a:xfrm>
            <a:off x="9272016" y="3191256"/>
            <a:ext cx="475488" cy="475488"/>
          </a:xfrm>
          <a:prstGeom prst="ellipse">
            <a:avLst/>
          </a:prstGeom>
          <a:solidFill>
            <a:schemeClr val="accent2"/>
          </a:solidFill>
          <a:ln/>
        </p:spPr>
      </p:sp>
      <p:sp>
        <p:nvSpPr>
          <p:cNvPr id="6" name="Text 0"/>
          <p:cNvSpPr/>
          <p:nvPr>
            <p:ph idx="100" type="title" hasCustomPrompt="1"/>
          </p:nvPr>
        </p:nvSpPr>
        <p:spPr>
          <a:xfrm>
            <a:off x="548640" y="214884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Try it now</a:t>
            </a:r>
            <a:endParaRPr lang="en-US" sz="5400" dirty="0"/>
          </a:p>
        </p:txBody>
      </p:sp>
      <p:sp>
        <p:nvSpPr>
          <p:cNvPr id="7" name="Text 0"/>
          <p:cNvSpPr/>
          <p:nvPr>
            <p:ph idx="101" type="body" hasCustomPrompt="1"/>
          </p:nvPr>
        </p:nvSpPr>
        <p:spPr>
          <a:xfrm>
            <a:off x="548640" y="3429000"/>
            <a:ext cx="6766560" cy="914400"/>
          </a:xfrm>
          <a:prstGeom prst="rect">
            <a:avLst/>
          </a:prstGeom>
          <a:noFill/>
          <a:ln/>
        </p:spPr>
        <p:txBody>
          <a:bodyPr wrap="square" lIns="0" tIns="0" rIns="0" bIns="0" rtlCol="0" anchor="t"/>
          <a:lstStyle/>
          <a:p>
            <a:pPr indent="0" marL="0">
              <a:buNone/>
            </a:pPr>
            <a:r>
              <a:rPr lang="en-US" sz="2400" dirty="0">
                <a:solidFill>
                  <a:schemeClr val="bg2"/>
                </a:solidFill>
                <a:latin typeface="Calibri" pitchFamily="34" charset="0"/>
                <a:ea typeface="Calibri" pitchFamily="34" charset="-122"/>
                <a:cs typeface="Calibri" pitchFamily="34" charset="-120"/>
              </a:rPr>
              <a:t>Nigeria's own AI, ready for every developer</a:t>
            </a:r>
            <a:endParaRPr lang="en-US" sz="2400" dirty="0"/>
          </a:p>
        </p:txBody>
      </p:sp>
      <p:sp>
        <p:nvSpPr>
          <p:cNvPr id="8" name="text-233"/>
          <p:cNvSpPr txBox="1"/>
          <p:nvPr/>
        </p:nvSpPr>
        <p:spPr>
          <a:xfrm>
            <a:off x="548640" y="4617720"/>
            <a:ext cx="2377440" cy="41148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Playground and API</a:t>
            </a:r>
            <a:endParaRPr lang="en-US" sz="1500" dirty="0"/>
          </a:p>
        </p:txBody>
      </p:sp>
      <p:sp>
        <p:nvSpPr>
          <p:cNvPr id="9" name="text-234"/>
          <p:cNvSpPr txBox="1"/>
          <p:nvPr/>
        </p:nvSpPr>
        <p:spPr>
          <a:xfrm>
            <a:off x="2926080" y="4617720"/>
            <a:ext cx="5029200" cy="4114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exalted-herbal-bulge.ngrok-free.dev</a:t>
            </a:r>
            <a:endParaRPr lang="en-US" sz="1600" dirty="0"/>
          </a:p>
        </p:txBody>
      </p:sp>
      <p:sp>
        <p:nvSpPr>
          <p:cNvPr id="10" name="text-235"/>
          <p:cNvSpPr txBox="1"/>
          <p:nvPr/>
        </p:nvSpPr>
        <p:spPr>
          <a:xfrm>
            <a:off x="548640" y="5120640"/>
            <a:ext cx="2377440" cy="41148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Source code</a:t>
            </a:r>
            <a:endParaRPr lang="en-US" sz="1500" dirty="0"/>
          </a:p>
        </p:txBody>
      </p:sp>
      <p:sp>
        <p:nvSpPr>
          <p:cNvPr id="11" name="text-236"/>
          <p:cNvSpPr txBox="1"/>
          <p:nvPr/>
        </p:nvSpPr>
        <p:spPr>
          <a:xfrm>
            <a:off x="2926080" y="5120640"/>
            <a:ext cx="5029200" cy="4114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github.com/Akindats1/natlas-devkit</a:t>
            </a:r>
            <a:endParaRPr lang="en-US" sz="1600" dirty="0"/>
          </a:p>
        </p:txBody>
      </p:sp>
      <p:sp>
        <p:nvSpPr>
          <p:cNvPr id="12" name="text-237"/>
          <p:cNvSpPr txBox="1"/>
          <p:nvPr/>
        </p:nvSpPr>
        <p:spPr>
          <a:xfrm>
            <a:off x="548640" y="5623560"/>
            <a:ext cx="2377440" cy="41148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npm package</a:t>
            </a:r>
            <a:endParaRPr lang="en-US" sz="1500" dirty="0"/>
          </a:p>
        </p:txBody>
      </p:sp>
      <p:sp>
        <p:nvSpPr>
          <p:cNvPr id="13" name="text-238"/>
          <p:cNvSpPr txBox="1"/>
          <p:nvPr/>
        </p:nvSpPr>
        <p:spPr>
          <a:xfrm>
            <a:off x="2926080" y="5623560"/>
            <a:ext cx="5029200" cy="4114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npmjs.com/package/@akindats/natlas</a:t>
            </a:r>
            <a:endParaRPr lang="en-US" sz="1600" dirty="0"/>
          </a:p>
        </p:txBody>
      </p:sp>
    </p:spTree>
  </p:cSld>
  <p:clrMapOvr>
    <a:masterClrMapping/>
  </p:clrMapOvr>
</p:sld>
</file>

<file path=ppt/theme/theme1.xml><?xml version="1.0" encoding="utf-8"?>
<a:theme xmlns:a="http://schemas.openxmlformats.org/drawingml/2006/main" name="Adire Indigo">
  <a:themeElements>
    <a:clrScheme name="Adire Indigo">
      <a:dk1>
        <a:srgbClr val="1A1D2E"/>
      </a:dk1>
      <a:lt1>
        <a:srgbClr val="FFFFFF"/>
      </a:lt1>
      <a:dk2>
        <a:srgbClr val="16235C"/>
      </a:dk2>
      <a:lt2>
        <a:srgbClr val="F3EDE2"/>
      </a:lt2>
      <a:accent1>
        <a:srgbClr val="16235C"/>
      </a:accent1>
      <a:accent2>
        <a:srgbClr val="D98E04"/>
      </a:accent2>
      <a:accent3>
        <a:srgbClr val="0B8A4B"/>
      </a:accent3>
      <a:accent4>
        <a:srgbClr val="1F3180"/>
      </a:accent4>
      <a:accent5>
        <a:srgbClr val="5B5F73"/>
      </a:accent5>
      <a:accent6>
        <a:srgbClr val="B3261E"/>
      </a:accent6>
      <a:hlink>
        <a:srgbClr val="1F3180"/>
      </a:hlink>
      <a:folHlink>
        <a:srgbClr val="5B5F73"/>
      </a:folHlink>
    </a:clrScheme>
    <a:fontScheme name="Adire Indig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Peachel Innovations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N-ATLAS Dev Kit — NAIC 2026</dc:title>
  <dc:subject>PptxGenJS Presentation</dc:subject>
  <dc:creator>Peachel Innovations Limited</dc:creator>
  <cp:lastModifiedBy>Peachel Innovations Limited</cp:lastModifiedBy>
  <cp:revision>1</cp:revision>
  <dcterms:created xsi:type="dcterms:W3CDTF">2026-10-12T00:22:34Z</dcterms:created>
  <dcterms:modified xsi:type="dcterms:W3CDTF">2026-10-12T00:22:34Z</dcterms:modified>
</cp:coreProperties>
</file>